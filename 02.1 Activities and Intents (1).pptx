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6" r:id="rId1"/>
    <p:sldMasterId id="2147483697" r:id="rId2"/>
    <p:sldMasterId id="2147483698" r:id="rId3"/>
    <p:sldMasterId id="2147483699" r:id="rId4"/>
  </p:sldMasterIdLst>
  <p:notesMasterIdLst>
    <p:notesMasterId r:id="rId56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303" r:id="rId29"/>
    <p:sldId id="304" r:id="rId30"/>
    <p:sldId id="305" r:id="rId31"/>
    <p:sldId id="306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57"/>
      <p:bold r:id="rId58"/>
      <p:italic r:id="rId59"/>
      <p:boldItalic r:id="rId60"/>
    </p:embeddedFont>
    <p:embeddedFont>
      <p:font typeface="Open Sans" panose="020B0604020202020204" charset="0"/>
      <p:regular r:id="rId61"/>
      <p:bold r:id="rId62"/>
      <p:italic r:id="rId63"/>
      <p:boldItalic r:id="rId64"/>
    </p:embeddedFont>
    <p:embeddedFont>
      <p:font typeface="Verdana" panose="020B0604030504040204" pitchFamily="34" charset="0"/>
      <p:regular r:id="rId65"/>
      <p:bold r:id="rId66"/>
      <p:italic r:id="rId67"/>
      <p:boldItalic r:id="rId68"/>
    </p:embeddedFont>
    <p:embeddedFont>
      <p:font typeface="Tahoma" panose="020B0604030504040204" pitchFamily="34" charset="0"/>
      <p:regular r:id="rId69"/>
      <p:bold r:id="rId70"/>
    </p:embeddedFont>
    <p:embeddedFont>
      <p:font typeface="Roboto" panose="020B0604020202020204" charset="0"/>
      <p:regular r:id="rId71"/>
      <p:bold r:id="rId72"/>
      <p:italic r:id="rId73"/>
      <p:boldItalic r:id="rId7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font" Target="fonts/font7.fntdata"/><Relationship Id="rId68" Type="http://schemas.openxmlformats.org/officeDocument/2006/relationships/font" Target="fonts/font12.fntdata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font" Target="fonts/font2.fntdata"/><Relationship Id="rId66" Type="http://schemas.openxmlformats.org/officeDocument/2006/relationships/font" Target="fonts/font10.fntdata"/><Relationship Id="rId74" Type="http://schemas.openxmlformats.org/officeDocument/2006/relationships/font" Target="fonts/font18.fntdata"/><Relationship Id="rId5" Type="http://schemas.openxmlformats.org/officeDocument/2006/relationships/slide" Target="slides/slide1.xml"/><Relationship Id="rId61" Type="http://schemas.openxmlformats.org/officeDocument/2006/relationships/font" Target="fonts/font5.fntdata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notesMaster" Target="notesMasters/notesMaster1.xml"/><Relationship Id="rId64" Type="http://schemas.openxmlformats.org/officeDocument/2006/relationships/font" Target="fonts/font8.fntdata"/><Relationship Id="rId69" Type="http://schemas.openxmlformats.org/officeDocument/2006/relationships/font" Target="fonts/font13.fntdata"/><Relationship Id="rId77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font" Target="fonts/font16.fntdata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font" Target="fonts/font3.fntdata"/><Relationship Id="rId67" Type="http://schemas.openxmlformats.org/officeDocument/2006/relationships/font" Target="fonts/font11.fntdata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font" Target="fonts/font6.fntdata"/><Relationship Id="rId70" Type="http://schemas.openxmlformats.org/officeDocument/2006/relationships/font" Target="fonts/font14.fntdata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font" Target="fonts/font1.fntdata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font" Target="fonts/font4.fntdata"/><Relationship Id="rId65" Type="http://schemas.openxmlformats.org/officeDocument/2006/relationships/font" Target="fonts/font9.fntdata"/><Relationship Id="rId73" Type="http://schemas.openxmlformats.org/officeDocument/2006/relationships/font" Target="fonts/font17.fntdata"/><Relationship Id="rId78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viewProps" Target="viewProps.xml"/><Relationship Id="rId7" Type="http://schemas.openxmlformats.org/officeDocument/2006/relationships/slide" Target="slides/slide3.xml"/><Relationship Id="rId71" Type="http://schemas.openxmlformats.org/officeDocument/2006/relationships/font" Target="fonts/font15.fntdata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116d7d9d49_3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116d7d9d49_3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168369f895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168369f895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116e4ee7f0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116e4ee7f0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1623af889d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1623af889d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1804ee73ec_0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1804ee73ec_0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17047195a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17047195a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17047195a8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17047195a8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68369f895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168369f895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1804ee73ec_0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1804ee73ec_0_2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116e4ee7f0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116e4ee7f0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168369f895_0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168369f895_0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168369f895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168369f895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1804ee73ec_0_2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1804ee73ec_0_2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168369f895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168369f895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1804ee73ec_0_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1804ee73ec_0_3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116e4ee7f0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116e4ee7f0_0_1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116e4ee7f0_0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116e4ee7f0_0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1804ee73ec_0_3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1804ee73ec_0_3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1804ee73ec_0_3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1804ee73ec_0_3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1955bcc6cf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1955bcc6cf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168369f895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168369f895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1955bcc6cf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1955bcc6cf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181baec30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181baec30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181baec30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181baec30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3313325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181baec30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181baec30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2275489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181baec30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181baec30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435657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1955bcc6cf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1955bcc6cf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177ece517f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177ece517f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168369f895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168369f895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177ece517f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177ece517f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1804ee73ec_0_3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1804ee73ec_0_3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177ece517f_1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177ece517f_1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168369f895_0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168369f895_0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168369f895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168369f895_0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168369f895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g168369f895_0_1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177ece517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177ece517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1804ee73ec_0_3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1804ee73ec_0_3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1804ee73ec_0_3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1804ee73ec_0_3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1804ee73ec_0_3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1804ee73ec_0_3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168369f895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168369f895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1955bcc6c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1955bcc6c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1955bcc6cf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1955bcc6cf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1955a0ae84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3" name="Google Shape;613;g1955a0ae84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 is left</a:t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1955a0ae84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2" name="Google Shape;622;g1955a0ae84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 is left</a:t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177ece517f_1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9" name="Google Shape;629;g177ece517f_1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1955bcc6cf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g1955bcc6cf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1804ee73e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1804ee73e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1804ee73ec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0" name="Google Shape;650;g1804ee73ec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1804ee73ec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1804ee73ec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hyperlink" Target="https://creativecommons.org/licenses/by/4.0/" TargetMode="Externa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Relationship Id="rId5" Type="http://schemas.openxmlformats.org/officeDocument/2006/relationships/hyperlink" Target="http://creativecommons.org/licenses/by-nc/4.0/" TargetMode="External"/><Relationship Id="rId4" Type="http://schemas.openxmlformats.org/officeDocument/2006/relationships/image" Target="../media/image4.png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4.png"/><Relationship Id="rId4" Type="http://schemas.openxmlformats.org/officeDocument/2006/relationships/hyperlink" Target="http://creativecommons.org/licenses/by-nc/4.0/" TargetMode="Externa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4CAF50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sz="5200" b="1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rgbClr val="4CAF50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rgbClr val="FFFFFF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  <a:defRPr>
                <a:solidFill>
                  <a:srgbClr val="000000"/>
                </a:solidFill>
              </a:defRPr>
            </a:lvl1pPr>
            <a:lvl2pPr marL="914400" lvl="1" indent="-355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AutoNum type="alphaLcPeriod"/>
              <a:defRPr sz="2000">
                <a:solidFill>
                  <a:srgbClr val="000000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romanLcPeriod"/>
              <a:defRPr>
                <a:solidFill>
                  <a:srgbClr val="000000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  <a:defRPr>
                <a:solidFill>
                  <a:srgbClr val="000000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LcPeriod"/>
              <a:defRPr>
                <a:solidFill>
                  <a:srgbClr val="000000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romanLcPeriod"/>
              <a:defRPr>
                <a:solidFill>
                  <a:srgbClr val="000000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  <a:defRPr>
                <a:solidFill>
                  <a:srgbClr val="000000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LcPeriod"/>
              <a:defRPr>
                <a:solidFill>
                  <a:srgbClr val="000000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AutoNum type="romanLcPeriod"/>
              <a:defRPr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Google Shape;31;p5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>
            <a:spLocks noGrp="1"/>
          </p:cNvSpPr>
          <p:nvPr>
            <p:ph type="body" idx="1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12" descr="Android-Developer-Cover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2" descr="foote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2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12"/>
          <p:cNvSpPr txBox="1">
            <a:spLocks noGrp="1"/>
          </p:cNvSpPr>
          <p:nvPr>
            <p:ph type="sldNum" idx="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" name="Google Shape;62;p12"/>
          <p:cNvSpPr txBox="1">
            <a:spLocks noGrp="1"/>
          </p:cNvSpPr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3" name="Google Shape;63;p12"/>
          <p:cNvSpPr txBox="1">
            <a:spLocks noGrp="1"/>
          </p:cNvSpPr>
          <p:nvPr>
            <p:ph type="subTitle" idx="1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4" name="Google Shape;64;p12"/>
          <p:cNvSpPr txBox="1">
            <a:spLocks noGrp="1"/>
          </p:cNvSpPr>
          <p:nvPr>
            <p:ph type="sldNum" idx="3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2"/>
          <p:cNvSpPr txBox="1">
            <a:spLocks noGrp="1"/>
          </p:cNvSpPr>
          <p:nvPr>
            <p:ph type="subTitle" idx="4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2"/>
          <p:cNvSpPr txBox="1"/>
          <p:nvPr/>
        </p:nvSpPr>
        <p:spPr>
          <a:xfrm>
            <a:off x="2231600" y="4761375"/>
            <a:ext cx="23085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" name="Google Shape;67;p12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i="1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lang="en" sz="900" i="1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4"/>
              </a:rPr>
              <a:t>Creative Commons Attribution 4.0 International License</a:t>
            </a:r>
            <a:r>
              <a:rPr lang="en" sz="900" i="1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900" i="1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i="1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4344925" y="4669125"/>
            <a:ext cx="12735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Activities and Intents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9" name="Google Shape;69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4CAF50"/>
        </a:soli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>
            <a:spLocks noGrp="1"/>
          </p:cNvSpPr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sz="5200" b="1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84" name="Google Shape;84;p15"/>
          <p:cNvSpPr txBox="1">
            <a:spLocks noGrp="1"/>
          </p:cNvSpPr>
          <p:nvPr>
            <p:ph type="subTitle" idx="1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85" name="Google Shape;85;p15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rgbClr val="4CAF50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>
            <a:spLocks noGrp="1"/>
          </p:cNvSpPr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88" name="Google Shape;88;p16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rgbClr val="FFFFFF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marL="914400" lvl="1" indent="-3556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6" name="Google Shape;96;p18"/>
          <p:cNvSpPr txBox="1">
            <a:spLocks noGrp="1"/>
          </p:cNvSpPr>
          <p:nvPr>
            <p:ph type="body" idx="2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7" name="Google Shape;97;p18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" name="Google Shape;98;p18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2" name="Google Shape;102;p19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9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6" name="Google Shape;106;p2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07" name="Google Shape;107;p20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10" name="Google Shape;110;p21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/>
          <p:nvPr/>
        </p:nvSpPr>
        <p:spPr>
          <a:xfrm>
            <a:off x="4572000" y="-125"/>
            <a:ext cx="4572000" cy="4660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22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14" name="Google Shape;114;p22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15" name="Google Shape;115;p22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16" name="Google Shape;116;p22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>
            <a:spLocks noGrp="1"/>
          </p:cNvSpPr>
          <p:nvPr>
            <p:ph type="body" idx="1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119" name="Google Shape;119;p23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2" name="Google Shape;122;p24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5" descr="Android-Developer-Cover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5" descr="foote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5"/>
          <p:cNvSpPr txBox="1"/>
          <p:nvPr/>
        </p:nvSpPr>
        <p:spPr>
          <a:xfrm>
            <a:off x="2381682" y="4761375"/>
            <a:ext cx="22191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" name="Google Shape;128;p25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25"/>
          <p:cNvSpPr txBox="1">
            <a:spLocks noGrp="1"/>
          </p:cNvSpPr>
          <p:nvPr>
            <p:ph type="sldNum" idx="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0" name="Google Shape;130;p25"/>
          <p:cNvSpPr txBox="1">
            <a:spLocks noGrp="1"/>
          </p:cNvSpPr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31" name="Google Shape;131;p25"/>
          <p:cNvSpPr txBox="1">
            <a:spLocks noGrp="1"/>
          </p:cNvSpPr>
          <p:nvPr>
            <p:ph type="subTitle" idx="1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32" name="Google Shape;132;p25"/>
          <p:cNvSpPr txBox="1">
            <a:spLocks noGrp="1"/>
          </p:cNvSpPr>
          <p:nvPr>
            <p:ph type="sldNum" idx="3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3" name="Google Shape;133;p25"/>
          <p:cNvSpPr txBox="1">
            <a:spLocks noGrp="1"/>
          </p:cNvSpPr>
          <p:nvPr>
            <p:ph type="subTitle" idx="4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134" name="Google Shape;13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3525" y="4777350"/>
            <a:ext cx="908100" cy="3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5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i="1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lang="en" sz="900" i="1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5"/>
              </a:rPr>
              <a:t>Creative Commons Attribution-NonCommercial 4.0 International License</a:t>
            </a:r>
            <a:endParaRPr sz="900" i="1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" name="Google Shape;136;p25"/>
          <p:cNvSpPr txBox="1"/>
          <p:nvPr/>
        </p:nvSpPr>
        <p:spPr>
          <a:xfrm>
            <a:off x="4407225" y="4663950"/>
            <a:ext cx="11508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Create your first Android app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4CAF50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8"/>
          <p:cNvSpPr txBox="1">
            <a:spLocks noGrp="1"/>
          </p:cNvSpPr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sz="5200" b="1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48" name="Google Shape;148;p28"/>
          <p:cNvSpPr txBox="1">
            <a:spLocks noGrp="1"/>
          </p:cNvSpPr>
          <p:nvPr>
            <p:ph type="subTitle" idx="1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9" name="Google Shape;149;p28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rgbClr val="4CAF50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9"/>
          <p:cNvSpPr txBox="1">
            <a:spLocks noGrp="1"/>
          </p:cNvSpPr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2" name="Google Shape;152;p29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rgbClr val="FFFFFF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0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30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30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marL="914400" lvl="1" indent="-3556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>
            <a:endParaRPr/>
          </a:p>
        </p:txBody>
      </p:sp>
      <p:sp>
        <p:nvSpPr>
          <p:cNvPr id="157" name="Google Shape;157;p30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1"/>
          <p:cNvSpPr txBox="1">
            <a:spLocks noGrp="1"/>
          </p:cNvSpPr>
          <p:nvPr>
            <p:ph type="body" idx="1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60" name="Google Shape;160;p31"/>
          <p:cNvSpPr txBox="1">
            <a:spLocks noGrp="1"/>
          </p:cNvSpPr>
          <p:nvPr>
            <p:ph type="body" idx="2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61" name="Google Shape;161;p31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2" name="Google Shape;162;p31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31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2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32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32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70" name="Google Shape;170;p3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71" name="Google Shape;171;p33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4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74" name="Google Shape;174;p34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35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78" name="Google Shape;178;p35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79" name="Google Shape;179;p35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0" name="Google Shape;180;p35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6"/>
          <p:cNvSpPr txBox="1">
            <a:spLocks noGrp="1"/>
          </p:cNvSpPr>
          <p:nvPr>
            <p:ph type="body" idx="1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183" name="Google Shape;183;p36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7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86" name="Google Shape;186;p37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7" name="Google Shape;187;p37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38" descr="Android-Developer-Cover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38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1" name="Google Shape;191;p38"/>
          <p:cNvSpPr txBox="1">
            <a:spLocks noGrp="1"/>
          </p:cNvSpPr>
          <p:nvPr>
            <p:ph type="sldNum" idx="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2" name="Google Shape;192;p38"/>
          <p:cNvSpPr txBox="1">
            <a:spLocks noGrp="1"/>
          </p:cNvSpPr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93" name="Google Shape;193;p38"/>
          <p:cNvSpPr txBox="1">
            <a:spLocks noGrp="1"/>
          </p:cNvSpPr>
          <p:nvPr>
            <p:ph type="subTitle" idx="1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94" name="Google Shape;194;p38"/>
          <p:cNvSpPr txBox="1">
            <a:spLocks noGrp="1"/>
          </p:cNvSpPr>
          <p:nvPr>
            <p:ph type="subTitle" idx="3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195" name="Google Shape;195;p38" descr="foote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38"/>
          <p:cNvSpPr txBox="1">
            <a:spLocks noGrp="1"/>
          </p:cNvSpPr>
          <p:nvPr>
            <p:ph type="sldNum" idx="4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7" name="Google Shape;197;p38"/>
          <p:cNvSpPr txBox="1"/>
          <p:nvPr/>
        </p:nvSpPr>
        <p:spPr>
          <a:xfrm>
            <a:off x="2381687" y="4761375"/>
            <a:ext cx="52968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9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4CAF50"/>
        </a:solid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41"/>
          <p:cNvSpPr txBox="1">
            <a:spLocks noGrp="1"/>
          </p:cNvSpPr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sz="5200" b="1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12" name="Google Shape;212;p41"/>
          <p:cNvSpPr txBox="1">
            <a:spLocks noGrp="1"/>
          </p:cNvSpPr>
          <p:nvPr>
            <p:ph type="subTitle" idx="1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13" name="Google Shape;213;p41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rgbClr val="4CAF50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2"/>
          <p:cNvSpPr txBox="1">
            <a:spLocks noGrp="1"/>
          </p:cNvSpPr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6" name="Google Shape;216;p42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rgbClr val="FFFFFF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3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43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43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marL="914400" lvl="1" indent="-3556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>
            <a:endParaRPr/>
          </a:p>
        </p:txBody>
      </p:sp>
      <p:sp>
        <p:nvSpPr>
          <p:cNvPr id="221" name="Google Shape;221;p43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4"/>
          <p:cNvSpPr txBox="1">
            <a:spLocks noGrp="1"/>
          </p:cNvSpPr>
          <p:nvPr>
            <p:ph type="body" idx="1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24" name="Google Shape;224;p44"/>
          <p:cNvSpPr txBox="1">
            <a:spLocks noGrp="1"/>
          </p:cNvSpPr>
          <p:nvPr>
            <p:ph type="body" idx="2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25" name="Google Shape;225;p44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6" name="Google Shape;226;p4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44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5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0" name="Google Shape;230;p45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45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34" name="Google Shape;234;p4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5" name="Google Shape;235;p46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38" name="Google Shape;238;p47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4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42" name="Google Shape;242;p4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43" name="Google Shape;243;p4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4" name="Google Shape;244;p48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9"/>
          <p:cNvSpPr txBox="1">
            <a:spLocks noGrp="1"/>
          </p:cNvSpPr>
          <p:nvPr>
            <p:ph type="body" idx="1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247" name="Google Shape;247;p49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5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50" name="Google Shape;250;p5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51" name="Google Shape;251;p50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51" descr="Android-Developer-Cover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51" descr="foote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51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6" name="Google Shape;256;p51"/>
          <p:cNvSpPr txBox="1">
            <a:spLocks noGrp="1"/>
          </p:cNvSpPr>
          <p:nvPr>
            <p:ph type="sldNum" idx="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7" name="Google Shape;257;p51"/>
          <p:cNvSpPr txBox="1">
            <a:spLocks noGrp="1"/>
          </p:cNvSpPr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58" name="Google Shape;258;p51"/>
          <p:cNvSpPr txBox="1">
            <a:spLocks noGrp="1"/>
          </p:cNvSpPr>
          <p:nvPr>
            <p:ph type="subTitle" idx="1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59" name="Google Shape;259;p51"/>
          <p:cNvSpPr txBox="1">
            <a:spLocks noGrp="1"/>
          </p:cNvSpPr>
          <p:nvPr>
            <p:ph type="sldNum" idx="3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0" name="Google Shape;260;p51"/>
          <p:cNvSpPr txBox="1">
            <a:spLocks noGrp="1"/>
          </p:cNvSpPr>
          <p:nvPr>
            <p:ph type="subTitle" idx="4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61" name="Google Shape;261;p51"/>
          <p:cNvSpPr txBox="1"/>
          <p:nvPr/>
        </p:nvSpPr>
        <p:spPr>
          <a:xfrm>
            <a:off x="2381675" y="4761375"/>
            <a:ext cx="21585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2" name="Google Shape;262;p51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i="1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lang="en" sz="900" i="1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Creative Commons Attribution-NonCommercial 4.0 International License</a:t>
            </a:r>
            <a:endParaRPr sz="900" i="1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3" name="Google Shape;263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14575" y="4777363"/>
            <a:ext cx="908100" cy="31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52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hyperlink" Target="https://creativecommons.org/licenses/by/4.0/" TargetMode="Externa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hyperlink" Target="https://creativecommons.org/licenses/by/4.0/" TargetMode="Externa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5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5" Type="http://schemas.openxmlformats.org/officeDocument/2006/relationships/hyperlink" Target="https://creativecommons.org/licenses/by/4.0/" TargetMode="Externa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 descr="footer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sz="3600" b="1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" name="Google Shape;10;p1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2206125" y="4761375"/>
            <a:ext cx="25872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i="1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lang="en" sz="900" i="1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15"/>
              </a:rPr>
              <a:t>Creative Commons Attribution 4.0 International License</a:t>
            </a:r>
            <a:r>
              <a:rPr lang="en" sz="900" i="1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900" i="1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4344925" y="4669125"/>
            <a:ext cx="12735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Activities and Intents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" name="Google Shape;14;p1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FFF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4" descr="footer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sz="3600" b="1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  <a:defRPr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  <a:defRPr sz="1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6" name="Google Shape;76;p14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" name="Google Shape;77;p14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14"/>
          <p:cNvSpPr txBox="1"/>
          <p:nvPr/>
        </p:nvSpPr>
        <p:spPr>
          <a:xfrm>
            <a:off x="2206125" y="4761375"/>
            <a:ext cx="23454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 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" name="Google Shape;79;p14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i="1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lang="en" sz="900" i="1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15"/>
              </a:rPr>
              <a:t>Creative Commons Attribution 4.0 International License</a:t>
            </a:r>
            <a:r>
              <a:rPr lang="en" sz="900" i="1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900" i="1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" name="Google Shape;80;p14"/>
          <p:cNvSpPr txBox="1"/>
          <p:nvPr/>
        </p:nvSpPr>
        <p:spPr>
          <a:xfrm>
            <a:off x="4421125" y="4669125"/>
            <a:ext cx="11508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Activities and Intents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1" name="Google Shape;81;p14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FFF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7" descr="footer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sz="3600" b="1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2" name="Google Shape;142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  <a:defRPr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  <a:defRPr sz="1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43" name="Google Shape;143;p27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4" name="Google Shape;144;p27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27"/>
          <p:cNvSpPr txBox="1"/>
          <p:nvPr/>
        </p:nvSpPr>
        <p:spPr>
          <a:xfrm>
            <a:off x="2206125" y="4739425"/>
            <a:ext cx="51918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FFF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40" descr="footer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sz="3600" b="1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3" name="Google Shape;203;p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  <a:defRPr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  <a:defRPr sz="1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04" name="Google Shape;204;p40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5" name="Google Shape;205;p40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0"/>
          <p:cNvSpPr txBox="1"/>
          <p:nvPr/>
        </p:nvSpPr>
        <p:spPr>
          <a:xfrm>
            <a:off x="2240100" y="4761375"/>
            <a:ext cx="23001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" name="Google Shape;207;p40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i="1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lang="en" sz="900" i="1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15"/>
              </a:rPr>
              <a:t>Creative Commons Attribution 4.0 International License</a:t>
            </a:r>
            <a:r>
              <a:rPr lang="en" sz="900" i="1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900" i="1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" name="Google Shape;208;p40"/>
          <p:cNvSpPr txBox="1"/>
          <p:nvPr/>
        </p:nvSpPr>
        <p:spPr>
          <a:xfrm>
            <a:off x="4421125" y="4669125"/>
            <a:ext cx="11508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Activities and Intents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09" name="Google Shape;209;p40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android.com/reference/android/content/Intent.html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developer.android.com/guide/components/fundamentals.html#Components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android.com/reference/android/app/Activity.html#startActivity(android.content.Intent)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android.com/reference/android/app/Activity.html#startActivity(android.content.Intent)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android.com/reference/android/os/Bundle.html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://developer.android.com/reference/android/content/Intent.html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://developer.android.com/reference/android/content/Intent.html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android.com/reference/android/app/Activity.html#startActivityForResult(android.content.Intent,%20int)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2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hyperlink" Target="http://developer.android.com/reference/android/content/Intent.html" TargetMode="External"/><Relationship Id="rId3" Type="http://schemas.openxmlformats.org/officeDocument/2006/relationships/hyperlink" Target="http://developer.android.com/guide/components/fundamentals.html" TargetMode="External"/><Relationship Id="rId7" Type="http://schemas.openxmlformats.org/officeDocument/2006/relationships/hyperlink" Target="http://developer.android.com/guide/components/intents-filters.html" TargetMode="External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5.xml"/><Relationship Id="rId6" Type="http://schemas.openxmlformats.org/officeDocument/2006/relationships/hyperlink" Target="http://developer.android.com/reference/android/app/Activity.html" TargetMode="External"/><Relationship Id="rId5" Type="http://schemas.openxmlformats.org/officeDocument/2006/relationships/hyperlink" Target="http://developer.android.com/guide/components/activities.html" TargetMode="External"/><Relationship Id="rId4" Type="http://schemas.openxmlformats.org/officeDocument/2006/relationships/hyperlink" Target="http://developer.android.com/training/basics/firstapp/starting-activity.html" TargetMode="External"/><Relationship Id="rId9" Type="http://schemas.openxmlformats.org/officeDocument/2006/relationships/hyperlink" Target="https://developer.android.com/design/patterns/navigation.html" TargetMode="Externa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s://google-developer-training.github.io/android-developer-fundamentals-course-concepts-v2/unit-1-get-started/lesson-2-activities-and-intents/2-1-c-activities-and-intents/2-1-c-activities-and-intents.html" TargetMode="Externa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5.xml"/><Relationship Id="rId4" Type="http://schemas.openxmlformats.org/officeDocument/2006/relationships/hyperlink" Target="https://codelabs.developers.google.com/codelabs/android-training-create-an-activity" TargetMode="Externa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53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sp>
        <p:nvSpPr>
          <p:cNvPr id="271" name="Google Shape;271;p53"/>
          <p:cNvSpPr txBox="1">
            <a:spLocks noGrp="1"/>
          </p:cNvSpPr>
          <p:nvPr>
            <p:ph type="sldNum" idx="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sp>
        <p:nvSpPr>
          <p:cNvPr id="272" name="Google Shape;272;p53"/>
          <p:cNvSpPr txBox="1">
            <a:spLocks noGrp="1"/>
          </p:cNvSpPr>
          <p:nvPr>
            <p:ph type="title"/>
          </p:nvPr>
        </p:nvSpPr>
        <p:spPr>
          <a:xfrm>
            <a:off x="195700" y="1442886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Activities and Intents</a:t>
            </a:r>
            <a:endParaRPr/>
          </a:p>
        </p:txBody>
      </p:sp>
      <p:sp>
        <p:nvSpPr>
          <p:cNvPr id="273" name="Google Shape;273;p53"/>
          <p:cNvSpPr txBox="1">
            <a:spLocks noGrp="1"/>
          </p:cNvSpPr>
          <p:nvPr>
            <p:ph type="sldNum" idx="3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sp>
        <p:nvSpPr>
          <p:cNvPr id="274" name="Google Shape;274;p53"/>
          <p:cNvSpPr txBox="1">
            <a:spLocks noGrp="1"/>
          </p:cNvSpPr>
          <p:nvPr>
            <p:ph type="subTitle" idx="4"/>
          </p:nvPr>
        </p:nvSpPr>
        <p:spPr>
          <a:xfrm>
            <a:off x="265500" y="640325"/>
            <a:ext cx="4045200" cy="5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Android Developer Fundamentals V2</a:t>
            </a:r>
            <a:endParaRPr dirty="0"/>
          </a:p>
        </p:txBody>
      </p:sp>
      <p:sp>
        <p:nvSpPr>
          <p:cNvPr id="275" name="Google Shape;275;p53"/>
          <p:cNvSpPr txBox="1"/>
          <p:nvPr/>
        </p:nvSpPr>
        <p:spPr>
          <a:xfrm>
            <a:off x="265500" y="3497911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Lesson 2</a:t>
            </a:r>
            <a:endParaRPr sz="2100">
              <a:solidFill>
                <a:srgbClr val="FAFAF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54"/>
          <p:cNvSpPr txBox="1">
            <a:spLocks noGrp="1"/>
          </p:cNvSpPr>
          <p:nvPr>
            <p:ph type="ctrTitle"/>
          </p:nvPr>
        </p:nvSpPr>
        <p:spPr>
          <a:xfrm>
            <a:off x="311700" y="1874796"/>
            <a:ext cx="8520600" cy="80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2.1 Activities and Intents</a:t>
            </a:r>
            <a:endParaRPr/>
          </a:p>
        </p:txBody>
      </p:sp>
      <p:sp>
        <p:nvSpPr>
          <p:cNvPr id="281" name="Google Shape;281;p54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55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Contents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87" name="Google Shape;287;p55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288" name="Google Shape;288;p55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/>
              <a:t>Activities</a:t>
            </a:r>
            <a:endParaRPr/>
          </a:p>
          <a:p>
            <a:pPr marL="457200" marR="0" lvl="0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Defining an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/>
              <a:t> </a:t>
            </a:r>
            <a:endParaRPr/>
          </a:p>
          <a:p>
            <a:pPr marL="457200" marR="0" lvl="0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Starting a new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/>
              <a:t> with an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Intent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457200" marR="0" lvl="0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Passing data between activities with extras</a:t>
            </a:r>
            <a:endParaRPr/>
          </a:p>
          <a:p>
            <a:pPr marL="457200" marR="0" lvl="0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Navigating between activities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600">
              <a:solidFill>
                <a:srgbClr val="4CAF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56"/>
          <p:cNvSpPr txBox="1">
            <a:spLocks noGrp="1"/>
          </p:cNvSpPr>
          <p:nvPr>
            <p:ph type="title"/>
          </p:nvPr>
        </p:nvSpPr>
        <p:spPr>
          <a:xfrm>
            <a:off x="137575" y="837800"/>
            <a:ext cx="4286100" cy="238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Activities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(high-level view)</a:t>
            </a:r>
            <a:endParaRPr/>
          </a:p>
        </p:txBody>
      </p:sp>
      <p:sp>
        <p:nvSpPr>
          <p:cNvPr id="294" name="Google Shape;294;p56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57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is an Activity?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00" name="Google Shape;300;p57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301" name="Google Shape;301;p57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An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/>
              <a:t> is an application component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Represents one window, one hierarchy of views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Typically fills the screen, but can be embedded in other Activity or a appear as floating window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Java class, typically one Activity in one file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600">
              <a:solidFill>
                <a:srgbClr val="4CAF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8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does an Activity do?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07" name="Google Shape;307;p58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308" name="Google Shape;308;p58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Represents an activity, such as ordering groceries, sending email, or getting directions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Handles user interactions, such as button clicks, text entry, or login verification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Can start other activities in the same or other apps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Has a life cycle—is created, started, runs, is paused, resumed, stopped, and destroyed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600">
              <a:solidFill>
                <a:srgbClr val="4CAF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9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Examples of activities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14" name="Google Shape;314;p59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pic>
        <p:nvPicPr>
          <p:cNvPr id="315" name="Google Shape;315;p59"/>
          <p:cNvPicPr preferRelativeResize="0"/>
          <p:nvPr/>
        </p:nvPicPr>
        <p:blipFill rotWithShape="1">
          <a:blip r:embed="rId3">
            <a:alphaModFix/>
          </a:blip>
          <a:srcRect t="3606" b="7788"/>
          <a:stretch/>
        </p:blipFill>
        <p:spPr>
          <a:xfrm>
            <a:off x="7009200" y="1197548"/>
            <a:ext cx="1960200" cy="3087864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16" name="Google Shape;316;p59"/>
          <p:cNvPicPr preferRelativeResize="0"/>
          <p:nvPr/>
        </p:nvPicPr>
        <p:blipFill rotWithShape="1">
          <a:blip r:embed="rId4">
            <a:alphaModFix/>
          </a:blip>
          <a:srcRect t="3810" b="8176"/>
          <a:stretch/>
        </p:blipFill>
        <p:spPr>
          <a:xfrm>
            <a:off x="2391934" y="1242650"/>
            <a:ext cx="1960224" cy="3067027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17" name="Google Shape;317;p59"/>
          <p:cNvPicPr preferRelativeResize="0"/>
          <p:nvPr/>
        </p:nvPicPr>
        <p:blipFill rotWithShape="1">
          <a:blip r:embed="rId5">
            <a:alphaModFix/>
          </a:blip>
          <a:srcRect t="3810" b="8176"/>
          <a:stretch/>
        </p:blipFill>
        <p:spPr>
          <a:xfrm>
            <a:off x="83300" y="1242650"/>
            <a:ext cx="1960224" cy="3067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59"/>
          <p:cNvPicPr preferRelativeResize="0"/>
          <p:nvPr/>
        </p:nvPicPr>
        <p:blipFill rotWithShape="1">
          <a:blip r:embed="rId6">
            <a:alphaModFix/>
          </a:blip>
          <a:srcRect t="3810" b="8176"/>
          <a:stretch/>
        </p:blipFill>
        <p:spPr>
          <a:xfrm>
            <a:off x="4700567" y="1242650"/>
            <a:ext cx="1960224" cy="3067027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19" name="Google Shape;319;p59"/>
          <p:cNvSpPr/>
          <p:nvPr/>
        </p:nvSpPr>
        <p:spPr>
          <a:xfrm>
            <a:off x="83325" y="1242713"/>
            <a:ext cx="1960200" cy="3066900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59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60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Apps and activities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26" name="Google Shape;326;p60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327" name="Google Shape;327;p60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Activities are loosely tied together to make up an app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First Activity user sees is typically called "main activity"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Activities can be organized in parent-child relationships in the Android manifest  to aid navigation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600">
              <a:solidFill>
                <a:srgbClr val="4CAF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61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Layouts and Activities</a:t>
            </a:r>
            <a:endParaRPr/>
          </a:p>
        </p:txBody>
      </p:sp>
      <p:sp>
        <p:nvSpPr>
          <p:cNvPr id="333" name="Google Shape;333;p61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An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/>
              <a:t> typically has a UI layout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Layout is usually defined in one or more XML files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/>
              <a:t> "inflates" layout as part of being created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61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62"/>
          <p:cNvSpPr txBox="1">
            <a:spLocks noGrp="1"/>
          </p:cNvSpPr>
          <p:nvPr>
            <p:ph type="title"/>
          </p:nvPr>
        </p:nvSpPr>
        <p:spPr>
          <a:xfrm>
            <a:off x="265500" y="15379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Implementing Activities</a:t>
            </a:r>
            <a:endParaRPr/>
          </a:p>
        </p:txBody>
      </p:sp>
      <p:sp>
        <p:nvSpPr>
          <p:cNvPr id="340" name="Google Shape;340;p62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63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Implement new activities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46" name="Google Shape;346;p63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sp>
        <p:nvSpPr>
          <p:cNvPr id="347" name="Google Shape;347;p63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Define layout in XML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Define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/>
              <a:t> Java class </a:t>
            </a:r>
            <a:endParaRPr/>
          </a:p>
          <a:p>
            <a:pPr marL="914400" lvl="1" indent="-355600" algn="l" rtl="0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extends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AppCompatActivity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Connect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/>
              <a:t> with Layout </a:t>
            </a:r>
            <a:endParaRPr/>
          </a:p>
          <a:p>
            <a:pPr marL="914400" lvl="1" indent="-355600" algn="l" rtl="0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Set content view in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onCreate()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Declare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/>
              <a:t> in the Android manifest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600">
              <a:solidFill>
                <a:srgbClr val="4CAF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64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SzPts val="3600"/>
              <a:buAutoNum type="arabicPeriod"/>
            </a:pPr>
            <a:r>
              <a:rPr lang="en"/>
              <a:t>Define layout in XML</a:t>
            </a:r>
            <a:endParaRPr/>
          </a:p>
        </p:txBody>
      </p:sp>
      <p:sp>
        <p:nvSpPr>
          <p:cNvPr id="353" name="Google Shape;353;p64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i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&lt;?</a:t>
            </a:r>
            <a:r>
              <a:rPr lang="en" sz="1800" b="1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xml version=</a:t>
            </a:r>
            <a:r>
              <a:rPr lang="en" sz="1800" b="1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"1.0" </a:t>
            </a:r>
            <a:r>
              <a:rPr lang="en" sz="1800" b="1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encoding=</a:t>
            </a:r>
            <a:r>
              <a:rPr lang="en" sz="1800" b="1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"utf-8"</a:t>
            </a:r>
            <a:r>
              <a:rPr lang="en" sz="1800" i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?&gt;</a:t>
            </a:r>
            <a:endParaRPr sz="1800" i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800" b="1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RelativeLayout </a:t>
            </a:r>
            <a:endParaRPr sz="1800" b="1">
              <a:solidFill>
                <a:srgbClr val="000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xmlns:</a:t>
            </a:r>
            <a:r>
              <a:rPr lang="en" sz="1800" b="1">
                <a:solidFill>
                  <a:srgbClr val="660E7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android</a:t>
            </a:r>
            <a:r>
              <a:rPr lang="en" sz="1800" b="1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800" b="1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"http://schemas.android.com/apk/res/android"</a:t>
            </a:r>
            <a:endParaRPr sz="1800" b="1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800" b="1">
                <a:solidFill>
                  <a:srgbClr val="660E7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android</a:t>
            </a:r>
            <a:r>
              <a:rPr lang="en" sz="1800" b="1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:layout_width=</a:t>
            </a:r>
            <a:r>
              <a:rPr lang="en" sz="1800" b="1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"match_parent"</a:t>
            </a:r>
            <a:endParaRPr sz="1800" b="1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800" b="1">
                <a:solidFill>
                  <a:srgbClr val="660E7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android</a:t>
            </a:r>
            <a:r>
              <a:rPr lang="en" sz="1800" b="1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:layout_height=</a:t>
            </a:r>
            <a:r>
              <a:rPr lang="en" sz="1800" b="1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"match_parent"</a:t>
            </a: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&lt;</a:t>
            </a:r>
            <a:r>
              <a:rPr lang="en" sz="1800" b="1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TextView</a:t>
            </a:r>
            <a:endParaRPr sz="1800" b="1">
              <a:solidFill>
                <a:srgbClr val="000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1800" b="1">
                <a:solidFill>
                  <a:srgbClr val="660E7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android</a:t>
            </a:r>
            <a:r>
              <a:rPr lang="en" sz="1800" b="1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:layout_width=</a:t>
            </a:r>
            <a:r>
              <a:rPr lang="en" sz="1800" b="1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"wrap_content"</a:t>
            </a:r>
            <a:endParaRPr sz="1800" b="1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1800" b="1">
                <a:solidFill>
                  <a:srgbClr val="660E7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android</a:t>
            </a:r>
            <a:r>
              <a:rPr lang="en" sz="1800" b="1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:layout_height=</a:t>
            </a:r>
            <a:r>
              <a:rPr lang="en" sz="1800" b="1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"wrap_content"</a:t>
            </a:r>
            <a:endParaRPr sz="1800" b="1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1800" b="1">
                <a:solidFill>
                  <a:srgbClr val="660E7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android</a:t>
            </a:r>
            <a:r>
              <a:rPr lang="en" sz="1800" b="1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:text=</a:t>
            </a:r>
            <a:r>
              <a:rPr lang="en" sz="1800" b="1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"Let's Shop for Food!" </a:t>
            </a: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/&gt;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" sz="1800" b="1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RelativeLayout</a:t>
            </a: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4" name="Google Shape;354;p64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65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Define Activity Java class</a:t>
            </a:r>
            <a:endParaRPr/>
          </a:p>
        </p:txBody>
      </p:sp>
      <p:sp>
        <p:nvSpPr>
          <p:cNvPr id="360" name="Google Shape;360;p65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public class MainActivity </a:t>
            </a:r>
            <a:r>
              <a:rPr lang="en" sz="1800" b="1">
                <a:latin typeface="Consolas"/>
                <a:ea typeface="Consolas"/>
                <a:cs typeface="Consolas"/>
                <a:sym typeface="Consolas"/>
              </a:rPr>
              <a:t>extends AppCompatActivity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@Override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protected void onCreate(Bundle savedInstanceState) 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super.onCreate(savedInstanceState);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1" name="Google Shape;361;p65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66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Connect activity with layout</a:t>
            </a:r>
            <a:endParaRPr/>
          </a:p>
        </p:txBody>
      </p:sp>
      <p:sp>
        <p:nvSpPr>
          <p:cNvPr id="367" name="Google Shape;367;p66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public class MainActivity extends AppCompatActivity 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@Override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protected void onCreate(Bundle savedInstanceState) 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super.onCreate(savedInstanceState);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b="1">
                <a:solidFill>
                  <a:srgbClr val="990000"/>
                </a:solidFill>
                <a:latin typeface="Consolas"/>
                <a:ea typeface="Consolas"/>
                <a:cs typeface="Consolas"/>
                <a:sym typeface="Consolas"/>
              </a:rPr>
              <a:t>setContentView(R.layout.activity_main);</a:t>
            </a:r>
            <a:endParaRPr b="1">
              <a:solidFill>
                <a:srgbClr val="99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8" name="Google Shape;368;p66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sp>
        <p:nvSpPr>
          <p:cNvPr id="369" name="Google Shape;369;p66"/>
          <p:cNvSpPr txBox="1"/>
          <p:nvPr/>
        </p:nvSpPr>
        <p:spPr>
          <a:xfrm>
            <a:off x="5115300" y="3781225"/>
            <a:ext cx="2067900" cy="4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in this XML file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0" name="Google Shape;370;p66"/>
          <p:cNvSpPr txBox="1"/>
          <p:nvPr/>
        </p:nvSpPr>
        <p:spPr>
          <a:xfrm>
            <a:off x="4132425" y="3781225"/>
            <a:ext cx="1207800" cy="4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is layout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1" name="Google Shape;371;p66"/>
          <p:cNvSpPr txBox="1"/>
          <p:nvPr/>
        </p:nvSpPr>
        <p:spPr>
          <a:xfrm>
            <a:off x="2984700" y="3781225"/>
            <a:ext cx="1342200" cy="4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Resource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2" name="Google Shape;372;p66"/>
          <p:cNvSpPr/>
          <p:nvPr/>
        </p:nvSpPr>
        <p:spPr>
          <a:xfrm>
            <a:off x="3776700" y="3613550"/>
            <a:ext cx="97875" cy="293650"/>
          </a:xfrm>
          <a:custGeom>
            <a:avLst/>
            <a:gdLst/>
            <a:ahLst/>
            <a:cxnLst/>
            <a:rect l="l" t="t" r="r" b="b"/>
            <a:pathLst>
              <a:path w="3915" h="11746" extrusionOk="0">
                <a:moveTo>
                  <a:pt x="0" y="11746"/>
                </a:moveTo>
                <a:cubicBezTo>
                  <a:pt x="2047" y="8163"/>
                  <a:pt x="3915" y="4127"/>
                  <a:pt x="3915" y="0"/>
                </a:cubicBezTo>
              </a:path>
            </a:pathLst>
          </a:cu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373" name="Google Shape;373;p66"/>
          <p:cNvSpPr/>
          <p:nvPr/>
        </p:nvSpPr>
        <p:spPr>
          <a:xfrm>
            <a:off x="4673975" y="3605400"/>
            <a:ext cx="16300" cy="269175"/>
          </a:xfrm>
          <a:custGeom>
            <a:avLst/>
            <a:gdLst/>
            <a:ahLst/>
            <a:cxnLst/>
            <a:rect l="l" t="t" r="r" b="b"/>
            <a:pathLst>
              <a:path w="652" h="10767" extrusionOk="0">
                <a:moveTo>
                  <a:pt x="652" y="10767"/>
                </a:moveTo>
                <a:cubicBezTo>
                  <a:pt x="61" y="7220"/>
                  <a:pt x="0" y="3596"/>
                  <a:pt x="0" y="0"/>
                </a:cubicBezTo>
              </a:path>
            </a:pathLst>
          </a:cu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374" name="Google Shape;374;p66"/>
          <p:cNvSpPr/>
          <p:nvPr/>
        </p:nvSpPr>
        <p:spPr>
          <a:xfrm>
            <a:off x="5807775" y="3572775"/>
            <a:ext cx="326300" cy="285475"/>
          </a:xfrm>
          <a:custGeom>
            <a:avLst/>
            <a:gdLst/>
            <a:ahLst/>
            <a:cxnLst/>
            <a:rect l="l" t="t" r="r" b="b"/>
            <a:pathLst>
              <a:path w="13052" h="11419" extrusionOk="0">
                <a:moveTo>
                  <a:pt x="0" y="11419"/>
                </a:moveTo>
                <a:cubicBezTo>
                  <a:pt x="2586" y="6249"/>
                  <a:pt x="11221" y="5483"/>
                  <a:pt x="13052" y="0"/>
                </a:cubicBezTo>
              </a:path>
            </a:pathLst>
          </a:cu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7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Declare activity in Android manifest</a:t>
            </a:r>
            <a:endParaRPr/>
          </a:p>
        </p:txBody>
      </p:sp>
      <p:sp>
        <p:nvSpPr>
          <p:cNvPr id="380" name="Google Shape;380;p67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&lt;activity android:name=".MainActivity"&gt;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9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1" name="Google Shape;381;p67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68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Declare main activity in manifest</a:t>
            </a:r>
            <a:endParaRPr/>
          </a:p>
        </p:txBody>
      </p:sp>
      <p:sp>
        <p:nvSpPr>
          <p:cNvPr id="387" name="Google Shape;387;p68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66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MainActivity</a:t>
            </a:r>
            <a:r>
              <a:rPr lang="en"/>
              <a:t> needs to include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intent-filter</a:t>
            </a:r>
            <a:r>
              <a:rPr lang="en"/>
              <a:t> to start from launcher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Consolas"/>
                <a:ea typeface="Consolas"/>
                <a:cs typeface="Consolas"/>
                <a:sym typeface="Consolas"/>
              </a:rPr>
              <a:t>&lt;activity android:name=".MainActivity"&gt;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700"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700" b="1">
                <a:latin typeface="Consolas"/>
                <a:ea typeface="Consolas"/>
                <a:cs typeface="Consolas"/>
                <a:sym typeface="Consolas"/>
              </a:rPr>
              <a:t>&lt;intent-filter&gt;</a:t>
            </a:r>
            <a:endParaRPr sz="17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700" b="1">
                <a:latin typeface="Consolas"/>
                <a:ea typeface="Consolas"/>
                <a:cs typeface="Consolas"/>
                <a:sym typeface="Consolas"/>
              </a:rPr>
              <a:t>       &lt;action android:name="android.intent.action.MAIN" /&gt;</a:t>
            </a:r>
            <a:endParaRPr sz="17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700" b="1">
                <a:latin typeface="Consolas"/>
                <a:ea typeface="Consolas"/>
                <a:cs typeface="Consolas"/>
                <a:sym typeface="Consolas"/>
              </a:rPr>
              <a:t>       &lt;category android:name="android.intent.category.LAUNCHER" /&gt;</a:t>
            </a:r>
            <a:endParaRPr sz="17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700" b="1">
                <a:latin typeface="Consolas"/>
                <a:ea typeface="Consolas"/>
                <a:cs typeface="Consolas"/>
                <a:sym typeface="Consolas"/>
              </a:rPr>
              <a:t>   &lt;/intent-filter&gt;</a:t>
            </a:r>
            <a:endParaRPr sz="17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700">
                <a:latin typeface="Consolas"/>
                <a:ea typeface="Consolas"/>
                <a:cs typeface="Consolas"/>
                <a:sym typeface="Consolas"/>
              </a:rPr>
              <a:t>&lt;/activity&gt;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8" name="Google Shape;388;p68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6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Intents</a:t>
            </a:r>
            <a:endParaRPr/>
          </a:p>
        </p:txBody>
      </p:sp>
      <p:sp>
        <p:nvSpPr>
          <p:cNvPr id="394" name="Google Shape;394;p69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70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is an intent?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00" name="Google Shape;400;p70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  <p:sp>
        <p:nvSpPr>
          <p:cNvPr id="401" name="Google Shape;401;p70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Intent</a:t>
            </a:r>
            <a:r>
              <a:rPr lang="en"/>
              <a:t> is a description of an operation to be performed. 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An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Intent</a:t>
            </a:r>
            <a:r>
              <a:rPr lang="en"/>
              <a:t> is an object used to request an action from another </a:t>
            </a:r>
            <a:r>
              <a:rPr lang="en" u="sng">
                <a:solidFill>
                  <a:schemeClr val="hlink"/>
                </a:solidFill>
                <a:hlinkClick r:id="rId4"/>
              </a:rPr>
              <a:t>app component</a:t>
            </a:r>
            <a:r>
              <a:rPr lang="en"/>
              <a:t> via the Android system.  </a:t>
            </a:r>
            <a:endParaRPr/>
          </a:p>
        </p:txBody>
      </p:sp>
      <p:sp>
        <p:nvSpPr>
          <p:cNvPr id="402" name="Google Shape;402;p70"/>
          <p:cNvSpPr/>
          <p:nvPr/>
        </p:nvSpPr>
        <p:spPr>
          <a:xfrm>
            <a:off x="2322062" y="3143954"/>
            <a:ext cx="1889700" cy="426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App component</a:t>
            </a:r>
            <a:endParaRPr sz="1800"/>
          </a:p>
        </p:txBody>
      </p:sp>
      <p:sp>
        <p:nvSpPr>
          <p:cNvPr id="403" name="Google Shape;403;p70"/>
          <p:cNvSpPr/>
          <p:nvPr/>
        </p:nvSpPr>
        <p:spPr>
          <a:xfrm>
            <a:off x="339099" y="3143950"/>
            <a:ext cx="1389000" cy="426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Originator</a:t>
            </a:r>
            <a:endParaRPr sz="1800"/>
          </a:p>
        </p:txBody>
      </p:sp>
      <p:sp>
        <p:nvSpPr>
          <p:cNvPr id="404" name="Google Shape;404;p70"/>
          <p:cNvSpPr/>
          <p:nvPr/>
        </p:nvSpPr>
        <p:spPr>
          <a:xfrm>
            <a:off x="935475" y="3575750"/>
            <a:ext cx="378725" cy="646925"/>
          </a:xfrm>
          <a:custGeom>
            <a:avLst/>
            <a:gdLst/>
            <a:ahLst/>
            <a:cxnLst/>
            <a:rect l="l" t="t" r="r" b="b"/>
            <a:pathLst>
              <a:path w="15149" h="25877" extrusionOk="0">
                <a:moveTo>
                  <a:pt x="0" y="0"/>
                </a:moveTo>
                <a:cubicBezTo>
                  <a:pt x="739" y="7393"/>
                  <a:pt x="1600" y="15955"/>
                  <a:pt x="6852" y="21209"/>
                </a:cubicBezTo>
                <a:cubicBezTo>
                  <a:pt x="8950" y="23308"/>
                  <a:pt x="17151" y="27097"/>
                  <a:pt x="14682" y="25450"/>
                </a:cubicBezTo>
              </a:path>
            </a:pathLst>
          </a:custGeom>
          <a:noFill/>
          <a:ln w="9525" cap="flat" cmpd="sng">
            <a:solidFill>
              <a:srgbClr val="999999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405" name="Google Shape;405;p70"/>
          <p:cNvSpPr txBox="1"/>
          <p:nvPr/>
        </p:nvSpPr>
        <p:spPr>
          <a:xfrm>
            <a:off x="588400" y="3591875"/>
            <a:ext cx="1033500" cy="3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Intent</a:t>
            </a:r>
            <a:endParaRPr sz="1800"/>
          </a:p>
        </p:txBody>
      </p:sp>
      <p:sp>
        <p:nvSpPr>
          <p:cNvPr id="406" name="Google Shape;406;p70"/>
          <p:cNvSpPr/>
          <p:nvPr/>
        </p:nvSpPr>
        <p:spPr>
          <a:xfrm>
            <a:off x="2028500" y="3583925"/>
            <a:ext cx="717825" cy="636225"/>
          </a:xfrm>
          <a:custGeom>
            <a:avLst/>
            <a:gdLst/>
            <a:ahLst/>
            <a:cxnLst/>
            <a:rect l="l" t="t" r="r" b="b"/>
            <a:pathLst>
              <a:path w="28713" h="25449" extrusionOk="0">
                <a:moveTo>
                  <a:pt x="0" y="25449"/>
                </a:moveTo>
                <a:cubicBezTo>
                  <a:pt x="12661" y="23642"/>
                  <a:pt x="28713" y="12789"/>
                  <a:pt x="28713" y="0"/>
                </a:cubicBezTo>
              </a:path>
            </a:pathLst>
          </a:custGeom>
          <a:noFill/>
          <a:ln w="9525" cap="flat" cmpd="sng">
            <a:solidFill>
              <a:srgbClr val="999999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407" name="Google Shape;407;p70"/>
          <p:cNvSpPr txBox="1"/>
          <p:nvPr/>
        </p:nvSpPr>
        <p:spPr>
          <a:xfrm>
            <a:off x="2288050" y="3591875"/>
            <a:ext cx="1116300" cy="3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Action</a:t>
            </a:r>
            <a:endParaRPr sz="1800"/>
          </a:p>
        </p:txBody>
      </p:sp>
      <p:sp>
        <p:nvSpPr>
          <p:cNvPr id="408" name="Google Shape;408;p70"/>
          <p:cNvSpPr/>
          <p:nvPr/>
        </p:nvSpPr>
        <p:spPr>
          <a:xfrm>
            <a:off x="1307200" y="4003800"/>
            <a:ext cx="1014900" cy="532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Android System</a:t>
            </a:r>
            <a:endParaRPr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71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can intents do?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14" name="Google Shape;414;p71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  <p:sp>
        <p:nvSpPr>
          <p:cNvPr id="415" name="Google Shape;415;p71"/>
          <p:cNvSpPr txBox="1">
            <a:spLocks noGrp="1"/>
          </p:cNvSpPr>
          <p:nvPr>
            <p:ph type="body" idx="1"/>
          </p:nvPr>
        </p:nvSpPr>
        <p:spPr>
          <a:xfrm>
            <a:off x="311700" y="9238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Start an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Activity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914400" lvl="1" indent="-355600" algn="l" rtl="0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A button click starts a new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/>
              <a:t> for text entry</a:t>
            </a:r>
            <a:endParaRPr/>
          </a:p>
          <a:p>
            <a:pPr marL="914400" lvl="1" indent="-355600" algn="l" rtl="0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Clicking Share opens an app that allows you to post a photo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Start an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Service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914400" lvl="1" indent="-355600" algn="l" rtl="0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Initiate downloading a file in the background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Deliver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Broadcast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914400" lvl="1" indent="-355600" algn="l" rtl="0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The system informs everybody that the phone is now charging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72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Explicit and implicit intents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21" name="Google Shape;421;p72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  <p:sp>
        <p:nvSpPr>
          <p:cNvPr id="422" name="Google Shape;422;p72"/>
          <p:cNvSpPr txBox="1">
            <a:spLocks noGrp="1"/>
          </p:cNvSpPr>
          <p:nvPr>
            <p:ph type="body" idx="1"/>
          </p:nvPr>
        </p:nvSpPr>
        <p:spPr>
          <a:xfrm>
            <a:off x="311700" y="771475"/>
            <a:ext cx="87471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300" b="1"/>
              <a:t>Explicit Intent </a:t>
            </a:r>
            <a:endParaRPr sz="2300" b="1"/>
          </a:p>
          <a:p>
            <a:pPr marL="457200" lvl="0" indent="-374650" algn="l" rtl="0">
              <a:spcBef>
                <a:spcPts val="100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Starts a specific </a:t>
            </a:r>
            <a:r>
              <a:rPr lang="en" sz="2300">
                <a:latin typeface="Consolas"/>
                <a:ea typeface="Consolas"/>
                <a:cs typeface="Consolas"/>
                <a:sym typeface="Consolas"/>
              </a:rPr>
              <a:t>Activity</a:t>
            </a:r>
            <a:endParaRPr sz="2300">
              <a:latin typeface="Consolas"/>
              <a:ea typeface="Consolas"/>
              <a:cs typeface="Consolas"/>
              <a:sym typeface="Consolas"/>
            </a:endParaRPr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Request tea with milk delivered by Nikita</a:t>
            </a:r>
            <a:endParaRPr sz="230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Main activity starts the </a:t>
            </a:r>
            <a:r>
              <a:rPr lang="en" sz="2300">
                <a:latin typeface="Consolas"/>
                <a:ea typeface="Consolas"/>
                <a:cs typeface="Consolas"/>
                <a:sym typeface="Consolas"/>
              </a:rPr>
              <a:t>ViewShoppingCart</a:t>
            </a:r>
            <a:r>
              <a:rPr lang="en" sz="2300"/>
              <a:t> </a:t>
            </a:r>
            <a:r>
              <a:rPr lang="en" sz="2300">
                <a:latin typeface="Consolas"/>
                <a:ea typeface="Consolas"/>
                <a:cs typeface="Consolas"/>
                <a:sym typeface="Consolas"/>
              </a:rPr>
              <a:t>Activity</a:t>
            </a:r>
            <a:endParaRPr sz="23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300" b="1"/>
              <a:t>Implicit Intent </a:t>
            </a:r>
            <a:endParaRPr sz="2300" b="1"/>
          </a:p>
          <a:p>
            <a:pPr marL="457200" lvl="0" indent="-374650" algn="l" rtl="0">
              <a:spcBef>
                <a:spcPts val="100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Asks system to find an </a:t>
            </a:r>
            <a:r>
              <a:rPr lang="en" sz="2300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 sz="2300"/>
              <a:t> that can handle this request</a:t>
            </a:r>
            <a:endParaRPr sz="230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Find an open store that sells green tea</a:t>
            </a:r>
            <a:endParaRPr sz="230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Clicking Share opens a chooser with a list of apps </a:t>
            </a:r>
            <a:endParaRPr sz="23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3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73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Starting Activities</a:t>
            </a:r>
            <a:endParaRPr/>
          </a:p>
        </p:txBody>
      </p:sp>
      <p:sp>
        <p:nvSpPr>
          <p:cNvPr id="428" name="Google Shape;428;p73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74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an Activity with an explicit intent</a:t>
            </a:r>
            <a:endParaRPr/>
          </a:p>
        </p:txBody>
      </p:sp>
      <p:sp>
        <p:nvSpPr>
          <p:cNvPr id="434" name="Google Shape;434;p74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To start a specific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/>
              <a:t>, use an explicit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Intent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Create an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Intent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914400" lvl="1" indent="-355600" algn="l" rtl="0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Intent intent = new Intent(this, ActivityName.class);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Use the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Intent</a:t>
            </a:r>
            <a:r>
              <a:rPr lang="en"/>
              <a:t> to start the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Activity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914400" lvl="1" indent="-355600" algn="l" rtl="0">
              <a:spcBef>
                <a:spcPts val="1000"/>
              </a:spcBef>
              <a:spcAft>
                <a:spcPts val="0"/>
              </a:spcAft>
              <a:buSzPts val="2000"/>
              <a:buFont typeface="Consolas"/>
              <a:buChar char="○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startActivity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(intent);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5" name="Google Shape;435;p74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75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an Activity with implicit intent</a:t>
            </a:r>
            <a:endParaRPr/>
          </a:p>
        </p:txBody>
      </p:sp>
      <p:sp>
        <p:nvSpPr>
          <p:cNvPr id="441" name="Google Shape;441;p75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To ask Android to find an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/>
              <a:t> to handle your request, use an implicit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Intent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Create an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Intent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914400" lvl="1" indent="-355600" algn="l" rtl="0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Intent intent = new Intent(action, uri);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Use the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Intent</a:t>
            </a:r>
            <a:r>
              <a:rPr lang="en"/>
              <a:t> to start the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Activity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914400" lvl="1" indent="-355600" algn="l" rtl="0">
              <a:spcBef>
                <a:spcPts val="1000"/>
              </a:spcBef>
              <a:spcAft>
                <a:spcPts val="0"/>
              </a:spcAft>
              <a:buSzPts val="2000"/>
              <a:buFont typeface="Consolas"/>
              <a:buChar char="○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startActivity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(intent);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2" name="Google Shape;442;p75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76"/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Implicit Intents - Examples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48" name="Google Shape;448;p76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24</a:t>
            </a:fld>
            <a:endParaRPr/>
          </a:p>
        </p:txBody>
      </p:sp>
      <p:sp>
        <p:nvSpPr>
          <p:cNvPr id="449" name="Google Shape;449;p76"/>
          <p:cNvSpPr txBox="1"/>
          <p:nvPr/>
        </p:nvSpPr>
        <p:spPr>
          <a:xfrm>
            <a:off x="240750" y="984925"/>
            <a:ext cx="8612700" cy="35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latin typeface="Roboto"/>
                <a:ea typeface="Roboto"/>
                <a:cs typeface="Roboto"/>
                <a:sym typeface="Roboto"/>
              </a:rPr>
              <a:t>Show a web page</a:t>
            </a:r>
            <a:br>
              <a:rPr lang="en" sz="2400" b="1" dirty="0">
                <a:latin typeface="Roboto"/>
                <a:ea typeface="Roboto"/>
                <a:cs typeface="Roboto"/>
                <a:sym typeface="Roboto"/>
              </a:rPr>
            </a:br>
            <a:r>
              <a:rPr lang="en" sz="2400" dirty="0">
                <a:latin typeface="Consolas"/>
                <a:ea typeface="Consolas"/>
                <a:cs typeface="Consolas"/>
                <a:sym typeface="Consolas"/>
              </a:rPr>
              <a:t>Uri uri = Uri.parse("http://www.google.com"); </a:t>
            </a:r>
            <a:br>
              <a:rPr lang="en" sz="2400" dirty="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2400" dirty="0">
                <a:latin typeface="Consolas"/>
                <a:ea typeface="Consolas"/>
                <a:cs typeface="Consolas"/>
                <a:sym typeface="Consolas"/>
              </a:rPr>
              <a:t>Intent it = new Intent(Intent.ACTION_VIEW,uri); </a:t>
            </a:r>
            <a:br>
              <a:rPr lang="en" sz="2400" dirty="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2400" dirty="0">
                <a:latin typeface="Consolas"/>
                <a:ea typeface="Consolas"/>
                <a:cs typeface="Consolas"/>
                <a:sym typeface="Consolas"/>
              </a:rPr>
              <a:t>startActivity(it);</a:t>
            </a:r>
            <a:endParaRPr sz="24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Dial a phone number</a:t>
            </a:r>
            <a:br>
              <a:rPr lang="en" sz="24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2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Uri uri = Uri.parse("tel:8005551234"); </a:t>
            </a:r>
            <a:endParaRPr sz="2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Intent it = new Intent(Intent.ACTION_DIAL, uri); </a:t>
            </a:r>
            <a:endParaRPr sz="2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startActivity(it);</a:t>
            </a:r>
            <a:endParaRPr sz="24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76"/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Implicit Intents - Examples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48" name="Google Shape;448;p76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25</a:t>
            </a:fld>
            <a:endParaRPr/>
          </a:p>
        </p:txBody>
      </p:sp>
      <p:sp>
        <p:nvSpPr>
          <p:cNvPr id="449" name="Google Shape;449;p76"/>
          <p:cNvSpPr txBox="1"/>
          <p:nvPr/>
        </p:nvSpPr>
        <p:spPr>
          <a:xfrm>
            <a:off x="240750" y="984925"/>
            <a:ext cx="8612700" cy="35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 smtClean="0">
                <a:latin typeface="Roboto"/>
                <a:ea typeface="Roboto"/>
                <a:cs typeface="Roboto"/>
                <a:sym typeface="Roboto"/>
              </a:rPr>
              <a:t>Send message to whatsapp</a:t>
            </a:r>
          </a:p>
          <a:p>
            <a:pPr lvl="0">
              <a:lnSpc>
                <a:spcPct val="115000"/>
              </a:lnSpc>
            </a:pPr>
            <a:r>
              <a:rPr lang="en-US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Add permission to application manifest.xml:</a:t>
            </a:r>
          </a:p>
          <a:p>
            <a:pPr lvl="0">
              <a:lnSpc>
                <a:spcPct val="115000"/>
              </a:lnSpc>
            </a:pPr>
            <a:r>
              <a:rPr lang="en-US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&lt;uses-permission </a:t>
            </a:r>
            <a:r>
              <a:rPr lang="en-US" sz="16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android:name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="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android.permission.INTERNET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" </a:t>
            </a:r>
            <a:r>
              <a:rPr lang="en-US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/&gt;</a:t>
            </a:r>
          </a:p>
          <a:p>
            <a:pPr lvl="0">
              <a:lnSpc>
                <a:spcPct val="115000"/>
              </a:lnSpc>
            </a:pPr>
            <a:r>
              <a:rPr lang="en-US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Intent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intent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= new Intent(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Intent.ACTION_VIEW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);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intent.setData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Uri.parse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("http://api.whatsapp.com/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send?phone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=" +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phoneNumber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+ "&amp;text=" +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Uri.encode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(message))); </a:t>
            </a:r>
            <a:endParaRPr lang="en-US" sz="16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0">
              <a:lnSpc>
                <a:spcPct val="115000"/>
              </a:lnSpc>
            </a:pPr>
            <a:endParaRPr lang="en-US" sz="16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0">
              <a:lnSpc>
                <a:spcPct val="115000"/>
              </a:lnSpc>
            </a:pPr>
            <a:endParaRPr lang="en-US" sz="16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0">
              <a:lnSpc>
                <a:spcPct val="115000"/>
              </a:lnSpc>
            </a:pPr>
            <a:r>
              <a:rPr lang="en-US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startActivity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(intent); </a:t>
            </a:r>
            <a:endParaRPr lang="en-US" sz="16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200"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638495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76"/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Implicit Intents - Examples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48" name="Google Shape;448;p76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26</a:t>
            </a:fld>
            <a:endParaRPr/>
          </a:p>
        </p:txBody>
      </p:sp>
      <p:sp>
        <p:nvSpPr>
          <p:cNvPr id="449" name="Google Shape;449;p76"/>
          <p:cNvSpPr txBox="1"/>
          <p:nvPr/>
        </p:nvSpPr>
        <p:spPr>
          <a:xfrm>
            <a:off x="240750" y="984925"/>
            <a:ext cx="8612700" cy="35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 smtClean="0">
                <a:latin typeface="Roboto"/>
                <a:ea typeface="Roboto"/>
                <a:cs typeface="Roboto"/>
                <a:sym typeface="Roboto"/>
              </a:rPr>
              <a:t>Open Location</a:t>
            </a:r>
          </a:p>
          <a:p>
            <a:r>
              <a:rPr lang="en-US" sz="1200" dirty="0"/>
              <a:t>public void </a:t>
            </a:r>
            <a:r>
              <a:rPr lang="en-US" sz="1200" dirty="0" err="1"/>
              <a:t>openLocation</a:t>
            </a:r>
            <a:r>
              <a:rPr lang="en-US" sz="1200" dirty="0"/>
              <a:t>(View view) {</a:t>
            </a:r>
          </a:p>
          <a:p>
            <a:r>
              <a:rPr lang="en-US" sz="1200" dirty="0"/>
              <a:t>// Get the string indicating a location. Input is not validated; it is</a:t>
            </a:r>
          </a:p>
          <a:p>
            <a:r>
              <a:rPr lang="en-US" sz="1200" dirty="0"/>
              <a:t>// passed to the location handler intact.</a:t>
            </a:r>
          </a:p>
          <a:p>
            <a:r>
              <a:rPr lang="en-US" sz="1200" dirty="0"/>
              <a:t>String </a:t>
            </a:r>
            <a:r>
              <a:rPr lang="en-US" sz="1200" dirty="0" err="1"/>
              <a:t>loc</a:t>
            </a:r>
            <a:r>
              <a:rPr lang="en-US" sz="1200" dirty="0"/>
              <a:t> = </a:t>
            </a:r>
            <a:r>
              <a:rPr lang="en-US" sz="1200" dirty="0" err="1"/>
              <a:t>mLocationEditText.getText</a:t>
            </a:r>
            <a:r>
              <a:rPr lang="en-US" sz="1200" dirty="0"/>
              <a:t>().</a:t>
            </a:r>
            <a:r>
              <a:rPr lang="en-US" sz="1200" dirty="0" err="1"/>
              <a:t>toString</a:t>
            </a:r>
            <a:r>
              <a:rPr lang="en-US" sz="1200" dirty="0"/>
              <a:t>();</a:t>
            </a:r>
          </a:p>
          <a:p>
            <a:r>
              <a:rPr lang="en-US" sz="1200" dirty="0"/>
              <a:t> </a:t>
            </a:r>
          </a:p>
          <a:p>
            <a:r>
              <a:rPr lang="en-US" sz="1200" dirty="0"/>
              <a:t>// Parse the location and create the intent. Uri </a:t>
            </a:r>
            <a:r>
              <a:rPr lang="en-US" sz="1200" dirty="0" err="1"/>
              <a:t>addressUri</a:t>
            </a:r>
            <a:r>
              <a:rPr lang="en-US" sz="1200" dirty="0"/>
              <a:t> = </a:t>
            </a:r>
            <a:r>
              <a:rPr lang="en-US" sz="1200" dirty="0" err="1"/>
              <a:t>Uri.parse</a:t>
            </a:r>
            <a:r>
              <a:rPr lang="en-US" sz="1200" dirty="0"/>
              <a:t>("geo:0,0?q=" + </a:t>
            </a:r>
            <a:r>
              <a:rPr lang="en-US" sz="1200" dirty="0" err="1"/>
              <a:t>loc</a:t>
            </a:r>
            <a:r>
              <a:rPr lang="en-US" sz="1200" dirty="0"/>
              <a:t>);</a:t>
            </a:r>
          </a:p>
          <a:p>
            <a:r>
              <a:rPr lang="en-US" sz="1200" dirty="0"/>
              <a:t>Intent </a:t>
            </a:r>
            <a:r>
              <a:rPr lang="en-US" sz="1200" dirty="0" err="1"/>
              <a:t>intent</a:t>
            </a:r>
            <a:r>
              <a:rPr lang="en-US" sz="1200" dirty="0"/>
              <a:t> = new Intent(</a:t>
            </a:r>
            <a:r>
              <a:rPr lang="en-US" sz="1200" dirty="0" err="1"/>
              <a:t>Intent.ACTION_VIEW</a:t>
            </a:r>
            <a:r>
              <a:rPr lang="en-US" sz="1200" dirty="0"/>
              <a:t>, </a:t>
            </a:r>
            <a:r>
              <a:rPr lang="en-US" sz="1200" dirty="0" err="1"/>
              <a:t>addressUri</a:t>
            </a:r>
            <a:r>
              <a:rPr lang="en-US" sz="1200" dirty="0"/>
              <a:t>);</a:t>
            </a:r>
          </a:p>
          <a:p>
            <a:r>
              <a:rPr lang="en-US" sz="1200" dirty="0"/>
              <a:t> </a:t>
            </a:r>
          </a:p>
          <a:p>
            <a:r>
              <a:rPr lang="en-US" sz="1200" dirty="0"/>
              <a:t>// Find an activity to handle the intent, and start that activity. if (</a:t>
            </a:r>
            <a:r>
              <a:rPr lang="en-US" sz="1200" dirty="0" err="1"/>
              <a:t>intent.resolveActivity</a:t>
            </a:r>
            <a:r>
              <a:rPr lang="en-US" sz="1200" dirty="0"/>
              <a:t>(</a:t>
            </a:r>
            <a:r>
              <a:rPr lang="en-US" sz="1200" dirty="0" err="1"/>
              <a:t>getPackageManager</a:t>
            </a:r>
            <a:r>
              <a:rPr lang="en-US" sz="1200" dirty="0"/>
              <a:t>()) != null) {</a:t>
            </a:r>
          </a:p>
          <a:p>
            <a:r>
              <a:rPr lang="en-US" sz="1200" dirty="0" err="1"/>
              <a:t>startActivity</a:t>
            </a:r>
            <a:r>
              <a:rPr lang="en-US" sz="1200" dirty="0"/>
              <a:t>(intent);</a:t>
            </a:r>
          </a:p>
          <a:p>
            <a:r>
              <a:rPr lang="en-US" sz="1200" dirty="0"/>
              <a:t>} else {</a:t>
            </a:r>
          </a:p>
          <a:p>
            <a:r>
              <a:rPr lang="en-US" sz="1200" dirty="0" err="1"/>
              <a:t>Log.d</a:t>
            </a:r>
            <a:r>
              <a:rPr lang="en-US" sz="1200" dirty="0"/>
              <a:t>("</a:t>
            </a:r>
            <a:r>
              <a:rPr lang="en-US" sz="1200" dirty="0" err="1"/>
              <a:t>ImplicitIntents</a:t>
            </a:r>
            <a:r>
              <a:rPr lang="en-US" sz="1200" dirty="0"/>
              <a:t>", "Can't handle this intent!");</a:t>
            </a:r>
          </a:p>
          <a:p>
            <a:r>
              <a:rPr lang="en-US" sz="1200" dirty="0"/>
              <a:t>}</a:t>
            </a:r>
          </a:p>
          <a:p>
            <a:r>
              <a:rPr lang="en-US" sz="1200" dirty="0"/>
              <a:t>}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" sz="2400" b="1" dirty="0" smtClean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200"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637966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76"/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Implicit Intents - Examples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48" name="Google Shape;448;p76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27</a:t>
            </a:fld>
            <a:endParaRPr/>
          </a:p>
        </p:txBody>
      </p:sp>
      <p:sp>
        <p:nvSpPr>
          <p:cNvPr id="449" name="Google Shape;449;p76"/>
          <p:cNvSpPr txBox="1"/>
          <p:nvPr/>
        </p:nvSpPr>
        <p:spPr>
          <a:xfrm>
            <a:off x="240750" y="984925"/>
            <a:ext cx="8612700" cy="35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 smtClean="0">
                <a:latin typeface="Roboto"/>
                <a:ea typeface="Roboto"/>
                <a:cs typeface="Roboto"/>
                <a:sym typeface="Roboto"/>
              </a:rPr>
              <a:t>Open Location</a:t>
            </a:r>
          </a:p>
          <a:p>
            <a:r>
              <a:rPr lang="en-US" dirty="0"/>
              <a:t>public void </a:t>
            </a:r>
            <a:r>
              <a:rPr lang="en-US" dirty="0" err="1"/>
              <a:t>shareText</a:t>
            </a:r>
            <a:r>
              <a:rPr lang="en-US" dirty="0"/>
              <a:t>(View view) {</a:t>
            </a:r>
          </a:p>
          <a:p>
            <a:r>
              <a:rPr lang="en-US" dirty="0"/>
              <a:t>String txt = </a:t>
            </a:r>
            <a:r>
              <a:rPr lang="en-US" dirty="0" err="1"/>
              <a:t>mShareTextEditText.getText</a:t>
            </a:r>
            <a:r>
              <a:rPr lang="en-US" dirty="0"/>
              <a:t>().</a:t>
            </a:r>
            <a:r>
              <a:rPr lang="en-US" dirty="0" err="1"/>
              <a:t>toString</a:t>
            </a:r>
            <a:r>
              <a:rPr lang="en-US" dirty="0"/>
              <a:t>(); String </a:t>
            </a:r>
            <a:r>
              <a:rPr lang="en-US" dirty="0" err="1"/>
              <a:t>mimeType</a:t>
            </a:r>
            <a:r>
              <a:rPr lang="en-US" dirty="0"/>
              <a:t> = "text/plain"; </a:t>
            </a:r>
            <a:r>
              <a:rPr lang="en-US" dirty="0" err="1"/>
              <a:t>ShareCompat.IntentBuilder</a:t>
            </a:r>
            <a:endParaRPr lang="en-US" dirty="0"/>
          </a:p>
          <a:p>
            <a:r>
              <a:rPr lang="en-US" dirty="0"/>
              <a:t>.from(this)</a:t>
            </a:r>
          </a:p>
          <a:p>
            <a:r>
              <a:rPr lang="en-US" dirty="0"/>
              <a:t>.</a:t>
            </a:r>
            <a:r>
              <a:rPr lang="en-US" dirty="0" err="1"/>
              <a:t>setType</a:t>
            </a:r>
            <a:r>
              <a:rPr lang="en-US" dirty="0"/>
              <a:t>(</a:t>
            </a:r>
            <a:r>
              <a:rPr lang="en-US" dirty="0" err="1"/>
              <a:t>mimeType</a:t>
            </a:r>
            <a:r>
              <a:rPr lang="en-US" dirty="0"/>
              <a:t>)</a:t>
            </a:r>
          </a:p>
          <a:p>
            <a:r>
              <a:rPr lang="en-US" dirty="0"/>
              <a:t>.</a:t>
            </a:r>
            <a:r>
              <a:rPr lang="en-US" dirty="0" err="1"/>
              <a:t>setChooserTitle</a:t>
            </a:r>
            <a:r>
              <a:rPr lang="en-US" dirty="0"/>
              <a:t>(</a:t>
            </a:r>
            <a:r>
              <a:rPr lang="en-US" dirty="0" err="1"/>
              <a:t>R.string.share_text_with</a:t>
            </a:r>
            <a:r>
              <a:rPr lang="en-US" dirty="0"/>
              <a:t>)</a:t>
            </a:r>
          </a:p>
          <a:p>
            <a:r>
              <a:rPr lang="en-US" dirty="0"/>
              <a:t>.</a:t>
            </a:r>
            <a:r>
              <a:rPr lang="en-US" dirty="0" err="1"/>
              <a:t>setText</a:t>
            </a:r>
            <a:r>
              <a:rPr lang="en-US" dirty="0"/>
              <a:t>(txt)</a:t>
            </a:r>
          </a:p>
          <a:p>
            <a:r>
              <a:rPr lang="en-US" dirty="0"/>
              <a:t>.</a:t>
            </a:r>
            <a:r>
              <a:rPr lang="en-US" dirty="0" err="1"/>
              <a:t>startChooser</a:t>
            </a:r>
            <a:r>
              <a:rPr lang="en-US" dirty="0"/>
              <a:t>();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" sz="2400" b="1" dirty="0" smtClean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200"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624373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Filtering Intent to be </a:t>
            </a:r>
            <a:r>
              <a:rPr lang="en-US" dirty="0" err="1" smtClean="0"/>
              <a:t>browsable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&lt;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intent­filter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&gt;</a:t>
            </a:r>
          </a:p>
          <a:p>
            <a:pPr marL="7620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&lt;action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android:name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="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android.intent.action.VIEW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" /&gt;</a:t>
            </a:r>
          </a:p>
          <a:p>
            <a:pPr marL="7620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&lt;category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android:name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="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android.intent.category.DEFAULT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" /&gt;</a:t>
            </a:r>
          </a:p>
          <a:p>
            <a:pPr marL="7620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&lt;category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android:name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="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android.intent.category.BROWSABLE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" /&gt;</a:t>
            </a:r>
          </a:p>
          <a:p>
            <a:pPr marL="7620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&lt;data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android:scheme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="http"</a:t>
            </a:r>
          </a:p>
          <a:p>
            <a:pPr marL="76200" indent="0">
              <a:buNone/>
            </a:pP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android:host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="developer.android.com" /&gt;</a:t>
            </a:r>
          </a:p>
          <a:p>
            <a:pPr marL="7620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&lt;/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intent­filter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&gt;</a:t>
            </a:r>
          </a:p>
          <a:p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28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5931972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77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Activities Run</a:t>
            </a:r>
            <a:endParaRPr/>
          </a:p>
        </p:txBody>
      </p:sp>
      <p:sp>
        <p:nvSpPr>
          <p:cNvPr id="455" name="Google Shape;455;p77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8300" algn="l" rtl="0"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All </a:t>
            </a: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 sz="2200"/>
              <a:t> instances are managed by the Android runtime</a:t>
            </a:r>
            <a:endParaRPr sz="2200"/>
          </a:p>
          <a:p>
            <a:pPr marL="457200" lvl="0" indent="-368300" algn="l" rtl="0"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Started by an "</a:t>
            </a: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Intent</a:t>
            </a:r>
            <a:r>
              <a:rPr lang="en" sz="2200"/>
              <a:t>", a message to the Android runtime to run an activity</a:t>
            </a:r>
            <a:endParaRPr sz="22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77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29</a:t>
            </a:fld>
            <a:endParaRPr/>
          </a:p>
        </p:txBody>
      </p:sp>
      <p:sp>
        <p:nvSpPr>
          <p:cNvPr id="457" name="Google Shape;457;p77"/>
          <p:cNvSpPr/>
          <p:nvPr/>
        </p:nvSpPr>
        <p:spPr>
          <a:xfrm>
            <a:off x="2398262" y="2839154"/>
            <a:ext cx="1889700" cy="426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MainActivity</a:t>
            </a:r>
            <a:r>
              <a:rPr lang="en" sz="1200"/>
              <a:t/>
            </a:r>
            <a:br>
              <a:rPr lang="en" sz="1200"/>
            </a:br>
            <a:r>
              <a:rPr lang="en" sz="1200"/>
              <a:t>What do you want to do?</a:t>
            </a:r>
            <a:endParaRPr sz="1200"/>
          </a:p>
        </p:txBody>
      </p:sp>
      <p:sp>
        <p:nvSpPr>
          <p:cNvPr id="458" name="Google Shape;458;p77"/>
          <p:cNvSpPr/>
          <p:nvPr/>
        </p:nvSpPr>
        <p:spPr>
          <a:xfrm>
            <a:off x="4434850" y="2839150"/>
            <a:ext cx="1993200" cy="426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FoodListActivity</a:t>
            </a:r>
            <a:r>
              <a:rPr lang="en" sz="1200"/>
              <a:t/>
            </a:r>
            <a:br>
              <a:rPr lang="en" sz="1200"/>
            </a:br>
            <a:r>
              <a:rPr lang="en" sz="1200"/>
              <a:t>Choose food items...Next</a:t>
            </a:r>
            <a:endParaRPr sz="1200"/>
          </a:p>
        </p:txBody>
      </p:sp>
      <p:sp>
        <p:nvSpPr>
          <p:cNvPr id="459" name="Google Shape;459;p77"/>
          <p:cNvSpPr/>
          <p:nvPr/>
        </p:nvSpPr>
        <p:spPr>
          <a:xfrm>
            <a:off x="6574955" y="2839144"/>
            <a:ext cx="1889700" cy="426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4242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OrderActivity</a:t>
            </a:r>
            <a:r>
              <a:rPr lang="en" sz="1200"/>
              <a:t/>
            </a:r>
            <a:br>
              <a:rPr lang="en" sz="1200"/>
            </a:br>
            <a:r>
              <a:rPr lang="en" sz="1200"/>
              <a:t>Place order</a:t>
            </a:r>
            <a:endParaRPr sz="1200"/>
          </a:p>
        </p:txBody>
      </p:sp>
      <p:sp>
        <p:nvSpPr>
          <p:cNvPr id="460" name="Google Shape;460;p77"/>
          <p:cNvSpPr/>
          <p:nvPr/>
        </p:nvSpPr>
        <p:spPr>
          <a:xfrm>
            <a:off x="415304" y="2839150"/>
            <a:ext cx="1175400" cy="426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User clicks launcher icon</a:t>
            </a:r>
            <a:endParaRPr sz="1200"/>
          </a:p>
        </p:txBody>
      </p:sp>
      <p:sp>
        <p:nvSpPr>
          <p:cNvPr id="461" name="Google Shape;461;p77"/>
          <p:cNvSpPr/>
          <p:nvPr/>
        </p:nvSpPr>
        <p:spPr>
          <a:xfrm>
            <a:off x="1383402" y="3699000"/>
            <a:ext cx="721200" cy="4269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Android System</a:t>
            </a:r>
            <a:endParaRPr sz="1200"/>
          </a:p>
        </p:txBody>
      </p:sp>
      <p:sp>
        <p:nvSpPr>
          <p:cNvPr id="462" name="Google Shape;462;p77"/>
          <p:cNvSpPr/>
          <p:nvPr/>
        </p:nvSpPr>
        <p:spPr>
          <a:xfrm>
            <a:off x="1011675" y="3270950"/>
            <a:ext cx="378725" cy="646925"/>
          </a:xfrm>
          <a:custGeom>
            <a:avLst/>
            <a:gdLst/>
            <a:ahLst/>
            <a:cxnLst/>
            <a:rect l="l" t="t" r="r" b="b"/>
            <a:pathLst>
              <a:path w="15149" h="25877" extrusionOk="0">
                <a:moveTo>
                  <a:pt x="0" y="0"/>
                </a:moveTo>
                <a:cubicBezTo>
                  <a:pt x="739" y="7393"/>
                  <a:pt x="1600" y="15955"/>
                  <a:pt x="6852" y="21209"/>
                </a:cubicBezTo>
                <a:cubicBezTo>
                  <a:pt x="8950" y="23308"/>
                  <a:pt x="17151" y="27097"/>
                  <a:pt x="14682" y="25450"/>
                </a:cubicBezTo>
              </a:path>
            </a:pathLst>
          </a:custGeom>
          <a:noFill/>
          <a:ln w="9525" cap="flat" cmpd="sng">
            <a:solidFill>
              <a:srgbClr val="999999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463" name="Google Shape;463;p77"/>
          <p:cNvSpPr txBox="1"/>
          <p:nvPr/>
        </p:nvSpPr>
        <p:spPr>
          <a:xfrm>
            <a:off x="334725" y="3363275"/>
            <a:ext cx="1770000" cy="3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Intent</a:t>
            </a:r>
            <a:r>
              <a:rPr lang="en"/>
              <a:t>: Start app </a:t>
            </a:r>
            <a:endParaRPr/>
          </a:p>
        </p:txBody>
      </p:sp>
      <p:sp>
        <p:nvSpPr>
          <p:cNvPr id="464" name="Google Shape;464;p77"/>
          <p:cNvSpPr/>
          <p:nvPr/>
        </p:nvSpPr>
        <p:spPr>
          <a:xfrm>
            <a:off x="2104700" y="3279125"/>
            <a:ext cx="717825" cy="636225"/>
          </a:xfrm>
          <a:custGeom>
            <a:avLst/>
            <a:gdLst/>
            <a:ahLst/>
            <a:cxnLst/>
            <a:rect l="l" t="t" r="r" b="b"/>
            <a:pathLst>
              <a:path w="28713" h="25449" extrusionOk="0">
                <a:moveTo>
                  <a:pt x="0" y="25449"/>
                </a:moveTo>
                <a:cubicBezTo>
                  <a:pt x="12661" y="23642"/>
                  <a:pt x="28713" y="12789"/>
                  <a:pt x="28713" y="0"/>
                </a:cubicBezTo>
              </a:path>
            </a:pathLst>
          </a:custGeom>
          <a:noFill/>
          <a:ln w="9525" cap="flat" cmpd="sng">
            <a:solidFill>
              <a:srgbClr val="999999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465" name="Google Shape;465;p77"/>
          <p:cNvSpPr txBox="1"/>
          <p:nvPr/>
        </p:nvSpPr>
        <p:spPr>
          <a:xfrm>
            <a:off x="2135650" y="3366063"/>
            <a:ext cx="1116300" cy="3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main activity</a:t>
            </a:r>
            <a:endParaRPr/>
          </a:p>
        </p:txBody>
      </p:sp>
      <p:sp>
        <p:nvSpPr>
          <p:cNvPr id="466" name="Google Shape;466;p77"/>
          <p:cNvSpPr/>
          <p:nvPr/>
        </p:nvSpPr>
        <p:spPr>
          <a:xfrm>
            <a:off x="3898002" y="3699000"/>
            <a:ext cx="721200" cy="4269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Android System</a:t>
            </a:r>
            <a:endParaRPr sz="1200"/>
          </a:p>
        </p:txBody>
      </p:sp>
      <p:sp>
        <p:nvSpPr>
          <p:cNvPr id="467" name="Google Shape;467;p77"/>
          <p:cNvSpPr/>
          <p:nvPr/>
        </p:nvSpPr>
        <p:spPr>
          <a:xfrm>
            <a:off x="3526275" y="3270950"/>
            <a:ext cx="378725" cy="646925"/>
          </a:xfrm>
          <a:custGeom>
            <a:avLst/>
            <a:gdLst/>
            <a:ahLst/>
            <a:cxnLst/>
            <a:rect l="l" t="t" r="r" b="b"/>
            <a:pathLst>
              <a:path w="15149" h="25877" extrusionOk="0">
                <a:moveTo>
                  <a:pt x="0" y="0"/>
                </a:moveTo>
                <a:cubicBezTo>
                  <a:pt x="739" y="7393"/>
                  <a:pt x="1600" y="15955"/>
                  <a:pt x="6852" y="21209"/>
                </a:cubicBezTo>
                <a:cubicBezTo>
                  <a:pt x="8950" y="23308"/>
                  <a:pt x="17151" y="27097"/>
                  <a:pt x="14682" y="25450"/>
                </a:cubicBezTo>
              </a:path>
            </a:pathLst>
          </a:custGeom>
          <a:noFill/>
          <a:ln w="9525" cap="flat" cmpd="sng">
            <a:solidFill>
              <a:srgbClr val="999999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468" name="Google Shape;468;p77"/>
          <p:cNvSpPr/>
          <p:nvPr/>
        </p:nvSpPr>
        <p:spPr>
          <a:xfrm>
            <a:off x="4619300" y="3279125"/>
            <a:ext cx="717825" cy="636225"/>
          </a:xfrm>
          <a:custGeom>
            <a:avLst/>
            <a:gdLst/>
            <a:ahLst/>
            <a:cxnLst/>
            <a:rect l="l" t="t" r="r" b="b"/>
            <a:pathLst>
              <a:path w="28713" h="25449" extrusionOk="0">
                <a:moveTo>
                  <a:pt x="0" y="25449"/>
                </a:moveTo>
                <a:cubicBezTo>
                  <a:pt x="12661" y="23642"/>
                  <a:pt x="28713" y="12789"/>
                  <a:pt x="28713" y="0"/>
                </a:cubicBezTo>
              </a:path>
            </a:pathLst>
          </a:custGeom>
          <a:noFill/>
          <a:ln w="9525" cap="flat" cmpd="sng">
            <a:solidFill>
              <a:srgbClr val="999999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469" name="Google Shape;469;p77"/>
          <p:cNvSpPr txBox="1"/>
          <p:nvPr/>
        </p:nvSpPr>
        <p:spPr>
          <a:xfrm>
            <a:off x="4598543" y="3363275"/>
            <a:ext cx="1339500" cy="6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choose food activity</a:t>
            </a:r>
            <a:endParaRPr/>
          </a:p>
        </p:txBody>
      </p:sp>
      <p:sp>
        <p:nvSpPr>
          <p:cNvPr id="470" name="Google Shape;470;p77"/>
          <p:cNvSpPr/>
          <p:nvPr/>
        </p:nvSpPr>
        <p:spPr>
          <a:xfrm>
            <a:off x="6260202" y="3699000"/>
            <a:ext cx="721200" cy="4269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Android System</a:t>
            </a:r>
            <a:endParaRPr sz="1200"/>
          </a:p>
        </p:txBody>
      </p:sp>
      <p:sp>
        <p:nvSpPr>
          <p:cNvPr id="471" name="Google Shape;471;p77"/>
          <p:cNvSpPr/>
          <p:nvPr/>
        </p:nvSpPr>
        <p:spPr>
          <a:xfrm>
            <a:off x="5862113" y="3270950"/>
            <a:ext cx="378725" cy="646925"/>
          </a:xfrm>
          <a:custGeom>
            <a:avLst/>
            <a:gdLst/>
            <a:ahLst/>
            <a:cxnLst/>
            <a:rect l="l" t="t" r="r" b="b"/>
            <a:pathLst>
              <a:path w="15149" h="25877" extrusionOk="0">
                <a:moveTo>
                  <a:pt x="0" y="0"/>
                </a:moveTo>
                <a:cubicBezTo>
                  <a:pt x="739" y="7393"/>
                  <a:pt x="1600" y="15955"/>
                  <a:pt x="6852" y="21209"/>
                </a:cubicBezTo>
                <a:cubicBezTo>
                  <a:pt x="8950" y="23308"/>
                  <a:pt x="17151" y="27097"/>
                  <a:pt x="14682" y="25450"/>
                </a:cubicBezTo>
              </a:path>
            </a:pathLst>
          </a:custGeom>
          <a:noFill/>
          <a:ln w="9525" cap="flat" cmpd="sng">
            <a:solidFill>
              <a:srgbClr val="999999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472" name="Google Shape;472;p77"/>
          <p:cNvSpPr/>
          <p:nvPr/>
        </p:nvSpPr>
        <p:spPr>
          <a:xfrm>
            <a:off x="6981500" y="3279125"/>
            <a:ext cx="717825" cy="636225"/>
          </a:xfrm>
          <a:custGeom>
            <a:avLst/>
            <a:gdLst/>
            <a:ahLst/>
            <a:cxnLst/>
            <a:rect l="l" t="t" r="r" b="b"/>
            <a:pathLst>
              <a:path w="28713" h="25449" extrusionOk="0">
                <a:moveTo>
                  <a:pt x="0" y="25449"/>
                </a:moveTo>
                <a:cubicBezTo>
                  <a:pt x="12661" y="23642"/>
                  <a:pt x="28713" y="12789"/>
                  <a:pt x="28713" y="0"/>
                </a:cubicBezTo>
              </a:path>
            </a:pathLst>
          </a:custGeom>
          <a:noFill/>
          <a:ln w="9525" cap="flat" cmpd="sng">
            <a:solidFill>
              <a:srgbClr val="999999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473" name="Google Shape;473;p77"/>
          <p:cNvSpPr txBox="1"/>
          <p:nvPr/>
        </p:nvSpPr>
        <p:spPr>
          <a:xfrm>
            <a:off x="7164850" y="3363275"/>
            <a:ext cx="1475700" cy="6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finish </a:t>
            </a:r>
            <a:br>
              <a:rPr lang="en"/>
            </a:br>
            <a:r>
              <a:rPr lang="en"/>
              <a:t>order activity</a:t>
            </a:r>
            <a:endParaRPr/>
          </a:p>
        </p:txBody>
      </p:sp>
      <p:sp>
        <p:nvSpPr>
          <p:cNvPr id="474" name="Google Shape;474;p77"/>
          <p:cNvSpPr txBox="1"/>
          <p:nvPr/>
        </p:nvSpPr>
        <p:spPr>
          <a:xfrm>
            <a:off x="3044050" y="3366075"/>
            <a:ext cx="1475700" cy="3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Intent</a:t>
            </a:r>
            <a:r>
              <a:rPr lang="en"/>
              <a:t>: Shop</a:t>
            </a:r>
            <a:endParaRPr/>
          </a:p>
        </p:txBody>
      </p:sp>
      <p:sp>
        <p:nvSpPr>
          <p:cNvPr id="475" name="Google Shape;475;p77"/>
          <p:cNvSpPr txBox="1"/>
          <p:nvPr/>
        </p:nvSpPr>
        <p:spPr>
          <a:xfrm>
            <a:off x="5744724" y="3363250"/>
            <a:ext cx="1420200" cy="3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Intent</a:t>
            </a:r>
            <a:r>
              <a:rPr lang="en"/>
              <a:t>: order  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Sending and Receiving Data</a:t>
            </a:r>
            <a:endParaRPr/>
          </a:p>
        </p:txBody>
      </p:sp>
      <p:sp>
        <p:nvSpPr>
          <p:cNvPr id="481" name="Google Shape;481;p78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30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79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types of sending data with intents</a:t>
            </a:r>
            <a:endParaRPr/>
          </a:p>
        </p:txBody>
      </p:sp>
      <p:sp>
        <p:nvSpPr>
          <p:cNvPr id="487" name="Google Shape;487;p79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50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Data—one piece of information whose data location can be represented by an URI 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Extras—one or more pieces of information as a collection of key-value pairs in a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Bundle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79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31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80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Sending and retrieving data</a:t>
            </a:r>
            <a:endParaRPr/>
          </a:p>
        </p:txBody>
      </p:sp>
      <p:sp>
        <p:nvSpPr>
          <p:cNvPr id="494" name="Google Shape;494;p80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 the first (sending)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>
                <a:solidFill>
                  <a:schemeClr val="dk1"/>
                </a:solidFill>
              </a:rPr>
              <a:t>Create the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Intent</a:t>
            </a:r>
            <a:r>
              <a:rPr lang="en">
                <a:solidFill>
                  <a:schemeClr val="dk1"/>
                </a:solidFill>
              </a:rPr>
              <a:t> object</a:t>
            </a:r>
            <a:endParaRPr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>
                <a:solidFill>
                  <a:schemeClr val="dk1"/>
                </a:solidFill>
              </a:rPr>
              <a:t>Put data or extras into that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Intent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>
                <a:solidFill>
                  <a:schemeClr val="dk1"/>
                </a:solidFill>
              </a:rPr>
              <a:t>Start the new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>
                <a:solidFill>
                  <a:schemeClr val="dk1"/>
                </a:solidFill>
              </a:rPr>
              <a:t> with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startActivity()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 the second (receiving)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>
                <a:solidFill>
                  <a:schemeClr val="dk1"/>
                </a:solidFill>
              </a:rPr>
              <a:t>: </a:t>
            </a:r>
            <a:endParaRPr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>
                <a:solidFill>
                  <a:schemeClr val="dk1"/>
                </a:solidFill>
              </a:rPr>
              <a:t>Get the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Intent</a:t>
            </a:r>
            <a:r>
              <a:rPr lang="en">
                <a:solidFill>
                  <a:schemeClr val="dk1"/>
                </a:solidFill>
              </a:rPr>
              <a:t> object, the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>
                <a:solidFill>
                  <a:schemeClr val="dk1"/>
                </a:solidFill>
              </a:rPr>
              <a:t> was started with</a:t>
            </a:r>
            <a:endParaRPr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>
                <a:solidFill>
                  <a:schemeClr val="dk1"/>
                </a:solidFill>
              </a:rPr>
              <a:t>Retrieve the data or extras from the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Intent</a:t>
            </a:r>
            <a:r>
              <a:rPr lang="en">
                <a:solidFill>
                  <a:schemeClr val="dk1"/>
                </a:solidFill>
              </a:rPr>
              <a:t> object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495" name="Google Shape;495;p80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32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81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Putting a URI as intent data</a:t>
            </a:r>
            <a:endParaRPr/>
          </a:p>
        </p:txBody>
      </p:sp>
      <p:sp>
        <p:nvSpPr>
          <p:cNvPr id="501" name="Google Shape;501;p81"/>
          <p:cNvSpPr txBox="1">
            <a:spLocks noGrp="1"/>
          </p:cNvSpPr>
          <p:nvPr>
            <p:ph type="body" idx="1"/>
          </p:nvPr>
        </p:nvSpPr>
        <p:spPr>
          <a:xfrm>
            <a:off x="311700" y="9238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A web page URL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intent.setData(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Uri.parse("http://www.google.com")); 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2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a Sample file URI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intent.setData(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500"/>
              </a:spcBef>
              <a:spcAft>
                <a:spcPts val="20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Uri.fromFile(new File("/sdcard/sample.jpg")));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02" name="Google Shape;502;p81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33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82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Put information into intent extras</a:t>
            </a:r>
            <a:endParaRPr/>
          </a:p>
        </p:txBody>
      </p:sp>
      <p:sp>
        <p:nvSpPr>
          <p:cNvPr id="508" name="Google Shape;508;p82"/>
          <p:cNvSpPr txBox="1">
            <a:spLocks noGrp="1"/>
          </p:cNvSpPr>
          <p:nvPr>
            <p:ph type="body" idx="1"/>
          </p:nvPr>
        </p:nvSpPr>
        <p:spPr>
          <a:xfrm>
            <a:off x="311700" y="10000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Consolas"/>
              <a:buChar char="●"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putExtra(String name, int value) </a:t>
            </a:r>
            <a:br>
              <a:rPr lang="en" sz="22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⇒ intent.putExtra("level", 406);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68300" algn="l" rtl="0">
              <a:spcBef>
                <a:spcPts val="1000"/>
              </a:spcBef>
              <a:spcAft>
                <a:spcPts val="0"/>
              </a:spcAft>
              <a:buSzPts val="2200"/>
              <a:buFont typeface="Consolas"/>
              <a:buChar char="●"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putExtra(String name, String[] value)</a:t>
            </a:r>
            <a:br>
              <a:rPr lang="en" sz="22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⇒ </a:t>
            </a:r>
            <a:r>
              <a:rPr lang="en" sz="2200">
                <a:highlight>
                  <a:srgbClr val="FEFEFC"/>
                </a:highlight>
                <a:latin typeface="Consolas"/>
                <a:ea typeface="Consolas"/>
                <a:cs typeface="Consolas"/>
                <a:sym typeface="Consolas"/>
              </a:rPr>
              <a:t>String[] foodList = {"Rice", "Beans", "Fruit"};</a:t>
            </a:r>
            <a:r>
              <a:rPr lang="en" sz="2200">
                <a:highlight>
                  <a:srgbClr val="FEFEFC"/>
                </a:highlight>
                <a:latin typeface="Courier New"/>
                <a:ea typeface="Courier New"/>
                <a:cs typeface="Courier New"/>
                <a:sym typeface="Courier New"/>
              </a:rPr>
              <a:t/>
            </a:r>
            <a:br>
              <a:rPr lang="en" sz="2200">
                <a:highlight>
                  <a:srgbClr val="FEFEFC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2200">
                <a:highlight>
                  <a:srgbClr val="FEFEFC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2200">
                <a:highlight>
                  <a:srgbClr val="FEFEFC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intent.putExtra("food", foodList);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68300" algn="l" rtl="0">
              <a:spcBef>
                <a:spcPts val="1000"/>
              </a:spcBef>
              <a:spcAft>
                <a:spcPts val="0"/>
              </a:spcAft>
              <a:buSzPts val="2200"/>
              <a:buFont typeface="Consolas"/>
              <a:buChar char="●"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putExtras(bundle);</a:t>
            </a:r>
            <a:br>
              <a:rPr lang="en" sz="22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2200"/>
              <a:t>⇒ if lots of data, first create a bundle and pass the bundle.</a:t>
            </a:r>
            <a:endParaRPr sz="2200"/>
          </a:p>
          <a:p>
            <a:pPr marL="457200" lvl="0" indent="-368300" algn="l" rtl="0">
              <a:spcBef>
                <a:spcPts val="1000"/>
              </a:spcBef>
              <a:spcAft>
                <a:spcPts val="0"/>
              </a:spcAft>
              <a:buClr>
                <a:srgbClr val="585858"/>
              </a:buClr>
              <a:buSzPts val="2200"/>
              <a:buChar char="●"/>
            </a:pPr>
            <a:r>
              <a:rPr lang="en" sz="2200"/>
              <a:t>See</a:t>
            </a:r>
            <a:r>
              <a:rPr lang="en" sz="2200">
                <a:solidFill>
                  <a:srgbClr val="585858"/>
                </a:solidFill>
              </a:rPr>
              <a:t> </a:t>
            </a:r>
            <a:r>
              <a:rPr lang="en" sz="2200" u="sng">
                <a:solidFill>
                  <a:schemeClr val="hlink"/>
                </a:solidFill>
                <a:hlinkClick r:id="rId3"/>
              </a:rPr>
              <a:t>documentation</a:t>
            </a:r>
            <a:r>
              <a:rPr lang="en" sz="2200">
                <a:solidFill>
                  <a:srgbClr val="585858"/>
                </a:solidFill>
              </a:rPr>
              <a:t> </a:t>
            </a:r>
            <a:r>
              <a:rPr lang="en" sz="2200"/>
              <a:t>for all</a:t>
            </a:r>
            <a:endParaRPr sz="2200">
              <a:solidFill>
                <a:srgbClr val="585858"/>
              </a:solidFill>
            </a:endParaRPr>
          </a:p>
        </p:txBody>
      </p:sp>
      <p:sp>
        <p:nvSpPr>
          <p:cNvPr id="509" name="Google Shape;509;p82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34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83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Sending data to an activity with extras</a:t>
            </a:r>
            <a:endParaRPr/>
          </a:p>
        </p:txBody>
      </p:sp>
      <p:sp>
        <p:nvSpPr>
          <p:cNvPr id="515" name="Google Shape;515;p83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public static final String EXTRA_MESSAGE_KEY =</a:t>
            </a:r>
            <a:b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"com.example.android.twoactivities.extra.MESSAGE";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Intent intent = new Intent(this, SecondActivity.class);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String message = "Hello Activity!";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intent.putExtra(EXTRA_MESSAGE_KEY, message);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500"/>
              </a:spcBef>
              <a:spcAft>
                <a:spcPts val="200"/>
              </a:spcAft>
              <a:buNone/>
            </a:pP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startActivity(intent);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16" name="Google Shape;516;p83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35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84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 data from intents</a:t>
            </a:r>
            <a:endParaRPr/>
          </a:p>
        </p:txBody>
      </p:sp>
      <p:sp>
        <p:nvSpPr>
          <p:cNvPr id="522" name="Google Shape;522;p84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8300" algn="l" rtl="0">
              <a:spcBef>
                <a:spcPts val="1000"/>
              </a:spcBef>
              <a:spcAft>
                <a:spcPts val="0"/>
              </a:spcAft>
              <a:buSzPts val="2200"/>
              <a:buFont typeface="Consolas"/>
              <a:buChar char="●"/>
            </a:pP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getData(); </a:t>
            </a:r>
            <a:b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⇒ Uri locationUri = intent.getData();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68300" algn="l" rtl="0">
              <a:spcBef>
                <a:spcPts val="1000"/>
              </a:spcBef>
              <a:spcAft>
                <a:spcPts val="0"/>
              </a:spcAft>
              <a:buSzPts val="2200"/>
              <a:buFont typeface="Consolas"/>
              <a:buChar char="●"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int getIntExtra (String name, int defaultValue)</a:t>
            </a:r>
            <a:br>
              <a:rPr lang="en" sz="22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⇒ int level = intent.getIntExtra("level", 0);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68300" algn="l" rtl="0">
              <a:spcBef>
                <a:spcPts val="1000"/>
              </a:spcBef>
              <a:spcAft>
                <a:spcPts val="0"/>
              </a:spcAft>
              <a:buSzPts val="2200"/>
              <a:buFont typeface="Consolas"/>
              <a:buChar char="●"/>
            </a:pP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Bundle bundle =</a:t>
            </a: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 intent.getExtras(); </a:t>
            </a:r>
            <a:br>
              <a:rPr lang="en" sz="22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2200"/>
              <a:t>⇒ Get all the data at once as a bundle.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68300" algn="l" rtl="0">
              <a:spcBef>
                <a:spcPts val="1000"/>
              </a:spcBef>
              <a:spcAft>
                <a:spcPts val="0"/>
              </a:spcAft>
              <a:buSzPts val="2200"/>
              <a:buFont typeface="Consolas"/>
              <a:buChar char="●"/>
            </a:pPr>
            <a:r>
              <a:rPr lang="en" sz="2200"/>
              <a:t>See </a:t>
            </a:r>
            <a:r>
              <a:rPr lang="en" sz="2200" u="sng">
                <a:solidFill>
                  <a:schemeClr val="accent5"/>
                </a:solidFill>
                <a:hlinkClick r:id="rId3"/>
              </a:rPr>
              <a:t>documentation</a:t>
            </a:r>
            <a:r>
              <a:rPr lang="en" sz="2200"/>
              <a:t> for all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23" name="Google Shape;523;p84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36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85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Returning data to the starting activity</a:t>
            </a:r>
            <a:endParaRPr/>
          </a:p>
        </p:txBody>
      </p:sp>
      <p:sp>
        <p:nvSpPr>
          <p:cNvPr id="529" name="Google Shape;529;p8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lang="en" sz="2100"/>
              <a:t>Use </a:t>
            </a:r>
            <a:r>
              <a:rPr lang="en" sz="2100">
                <a:latin typeface="Consolas"/>
                <a:ea typeface="Consolas"/>
                <a:cs typeface="Consolas"/>
                <a:sym typeface="Consolas"/>
              </a:rPr>
              <a:t>startActivityForResult(</a:t>
            </a:r>
            <a:r>
              <a:rPr lang="en" sz="2100"/>
              <a:t>) to start the second </a:t>
            </a:r>
            <a:r>
              <a:rPr lang="en" sz="2100">
                <a:latin typeface="Consolas"/>
                <a:ea typeface="Consolas"/>
                <a:cs typeface="Consolas"/>
                <a:sym typeface="Consolas"/>
              </a:rPr>
              <a:t>Activity</a:t>
            </a:r>
            <a:endParaRPr sz="210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61950" algn="l" rtl="0">
              <a:spcBef>
                <a:spcPts val="1000"/>
              </a:spcBef>
              <a:spcAft>
                <a:spcPts val="0"/>
              </a:spcAft>
              <a:buSzPts val="2100"/>
              <a:buAutoNum type="arabicPeriod"/>
            </a:pPr>
            <a:r>
              <a:rPr lang="en" sz="2100"/>
              <a:t>To return data from the second </a:t>
            </a:r>
            <a:r>
              <a:rPr lang="en" sz="2100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 sz="2100"/>
              <a:t>:</a:t>
            </a:r>
            <a:endParaRPr sz="2100"/>
          </a:p>
          <a:p>
            <a:pPr marL="9144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Create a </a:t>
            </a:r>
            <a:r>
              <a:rPr lang="en" sz="2100" b="1" i="1"/>
              <a:t>new</a:t>
            </a:r>
            <a:r>
              <a:rPr lang="en" sz="2100"/>
              <a:t> </a:t>
            </a:r>
            <a:r>
              <a:rPr lang="en" sz="2100">
                <a:latin typeface="Consolas"/>
                <a:ea typeface="Consolas"/>
                <a:cs typeface="Consolas"/>
                <a:sym typeface="Consolas"/>
              </a:rPr>
              <a:t>Intent</a:t>
            </a:r>
            <a:endParaRPr sz="2100">
              <a:latin typeface="Consolas"/>
              <a:ea typeface="Consolas"/>
              <a:cs typeface="Consolas"/>
              <a:sym typeface="Consolas"/>
            </a:endParaRPr>
          </a:p>
          <a:p>
            <a:pPr marL="9144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Put the response data in the </a:t>
            </a:r>
            <a:r>
              <a:rPr lang="en" sz="2100">
                <a:latin typeface="Consolas"/>
                <a:ea typeface="Consolas"/>
                <a:cs typeface="Consolas"/>
                <a:sym typeface="Consolas"/>
              </a:rPr>
              <a:t>Intent</a:t>
            </a:r>
            <a:r>
              <a:rPr lang="en" sz="2100"/>
              <a:t> using </a:t>
            </a:r>
            <a:r>
              <a:rPr lang="en" sz="2100">
                <a:latin typeface="Consolas"/>
                <a:ea typeface="Consolas"/>
                <a:cs typeface="Consolas"/>
                <a:sym typeface="Consolas"/>
              </a:rPr>
              <a:t>putExtra()</a:t>
            </a:r>
            <a:endParaRPr sz="2100">
              <a:latin typeface="Consolas"/>
              <a:ea typeface="Consolas"/>
              <a:cs typeface="Consolas"/>
              <a:sym typeface="Consolas"/>
            </a:endParaRPr>
          </a:p>
          <a:p>
            <a:pPr marL="9144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Set the result to </a:t>
            </a:r>
            <a:r>
              <a:rPr lang="en" sz="2100">
                <a:latin typeface="Consolas"/>
                <a:ea typeface="Consolas"/>
                <a:cs typeface="Consolas"/>
                <a:sym typeface="Consolas"/>
              </a:rPr>
              <a:t>Activity.RESULT_OK</a:t>
            </a:r>
            <a:r>
              <a:rPr lang="en" sz="2100"/>
              <a:t>  </a:t>
            </a:r>
            <a:br>
              <a:rPr lang="en" sz="2100"/>
            </a:br>
            <a:r>
              <a:rPr lang="en" sz="2100"/>
              <a:t>or </a:t>
            </a:r>
            <a:r>
              <a:rPr lang="en" sz="2100">
                <a:latin typeface="Consolas"/>
                <a:ea typeface="Consolas"/>
                <a:cs typeface="Consolas"/>
                <a:sym typeface="Consolas"/>
              </a:rPr>
              <a:t>RESULT_CANCELED</a:t>
            </a:r>
            <a:r>
              <a:rPr lang="en" sz="2100"/>
              <a:t>, if the user cancelled out</a:t>
            </a:r>
            <a:endParaRPr sz="2100"/>
          </a:p>
          <a:p>
            <a:pPr marL="9144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call </a:t>
            </a:r>
            <a:r>
              <a:rPr lang="en" sz="2100">
                <a:latin typeface="Consolas"/>
                <a:ea typeface="Consolas"/>
                <a:cs typeface="Consolas"/>
                <a:sym typeface="Consolas"/>
              </a:rPr>
              <a:t>finish()</a:t>
            </a:r>
            <a:r>
              <a:rPr lang="en" sz="2100"/>
              <a:t> to close the </a:t>
            </a:r>
            <a:r>
              <a:rPr lang="en" sz="2100">
                <a:latin typeface="Consolas"/>
                <a:ea typeface="Consolas"/>
                <a:cs typeface="Consolas"/>
                <a:sym typeface="Consolas"/>
              </a:rPr>
              <a:t>Activity</a:t>
            </a:r>
            <a:endParaRPr sz="210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61950" algn="l" rtl="0">
              <a:spcBef>
                <a:spcPts val="1000"/>
              </a:spcBef>
              <a:spcAft>
                <a:spcPts val="0"/>
              </a:spcAft>
              <a:buSzPts val="2100"/>
              <a:buAutoNum type="arabicPeriod"/>
            </a:pPr>
            <a:r>
              <a:rPr lang="en" sz="2100"/>
              <a:t>Implement  </a:t>
            </a:r>
            <a:r>
              <a:rPr lang="en" sz="2100">
                <a:latin typeface="Consolas"/>
                <a:ea typeface="Consolas"/>
                <a:cs typeface="Consolas"/>
                <a:sym typeface="Consolas"/>
              </a:rPr>
              <a:t>onActivityResult()</a:t>
            </a:r>
            <a:r>
              <a:rPr lang="en" sz="2100"/>
              <a:t> in first </a:t>
            </a:r>
            <a:r>
              <a:rPr lang="en" sz="2100">
                <a:latin typeface="Consolas"/>
                <a:ea typeface="Consolas"/>
                <a:cs typeface="Consolas"/>
                <a:sym typeface="Consolas"/>
              </a:rPr>
              <a:t>Activity</a:t>
            </a:r>
            <a:endParaRPr sz="21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0" name="Google Shape;530;p85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37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86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startActivityForResult()</a:t>
            </a:r>
            <a:endParaRPr/>
          </a:p>
        </p:txBody>
      </p:sp>
      <p:sp>
        <p:nvSpPr>
          <p:cNvPr id="536" name="Google Shape;536;p86"/>
          <p:cNvSpPr txBox="1">
            <a:spLocks noGrp="1"/>
          </p:cNvSpPr>
          <p:nvPr>
            <p:ph type="body" idx="1"/>
          </p:nvPr>
        </p:nvSpPr>
        <p:spPr>
          <a:xfrm>
            <a:off x="158175" y="1082325"/>
            <a:ext cx="8709300" cy="331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3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startActivityForResult</a:t>
            </a:r>
            <a:r>
              <a:rPr lang="en" sz="2300">
                <a:latin typeface="Consolas"/>
                <a:ea typeface="Consolas"/>
                <a:cs typeface="Consolas"/>
                <a:sym typeface="Consolas"/>
              </a:rPr>
              <a:t>(intent, requestCode);</a:t>
            </a:r>
            <a:endParaRPr sz="230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74650" algn="l" rtl="0">
              <a:spcBef>
                <a:spcPts val="100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Starts </a:t>
            </a:r>
            <a:r>
              <a:rPr lang="en" sz="2300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 sz="2300"/>
              <a:t> (</a:t>
            </a:r>
            <a:r>
              <a:rPr lang="en" sz="2300">
                <a:latin typeface="Consolas"/>
                <a:ea typeface="Consolas"/>
                <a:cs typeface="Consolas"/>
                <a:sym typeface="Consolas"/>
              </a:rPr>
              <a:t>intent</a:t>
            </a:r>
            <a:r>
              <a:rPr lang="en" sz="2300"/>
              <a:t>), assigns it identifier (</a:t>
            </a:r>
            <a:r>
              <a:rPr lang="en" sz="2300">
                <a:latin typeface="Consolas"/>
                <a:ea typeface="Consolas"/>
                <a:cs typeface="Consolas"/>
                <a:sym typeface="Consolas"/>
              </a:rPr>
              <a:t>requestCode</a:t>
            </a:r>
            <a:r>
              <a:rPr lang="en" sz="2300"/>
              <a:t>)</a:t>
            </a:r>
            <a:endParaRPr sz="2300"/>
          </a:p>
          <a:p>
            <a:pPr marL="457200" lvl="0" indent="-374650" algn="l" rtl="0">
              <a:spcBef>
                <a:spcPts val="100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Returns data via </a:t>
            </a:r>
            <a:r>
              <a:rPr lang="en" sz="2300">
                <a:latin typeface="Consolas"/>
                <a:ea typeface="Consolas"/>
                <a:cs typeface="Consolas"/>
                <a:sym typeface="Consolas"/>
              </a:rPr>
              <a:t>Intent</a:t>
            </a:r>
            <a:r>
              <a:rPr lang="en" sz="2300"/>
              <a:t> extras</a:t>
            </a:r>
            <a:endParaRPr sz="2300"/>
          </a:p>
          <a:p>
            <a:pPr marL="457200" lvl="0" indent="-374650" algn="l" rtl="0">
              <a:spcBef>
                <a:spcPts val="100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When done, pop stack, return to previous </a:t>
            </a:r>
            <a:r>
              <a:rPr lang="en" sz="2300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 sz="2300"/>
              <a:t>, and execute o</a:t>
            </a:r>
            <a:r>
              <a:rPr lang="en" sz="2300">
                <a:latin typeface="Consolas"/>
                <a:ea typeface="Consolas"/>
                <a:cs typeface="Consolas"/>
                <a:sym typeface="Consolas"/>
              </a:rPr>
              <a:t>nActivityResult()</a:t>
            </a:r>
            <a:r>
              <a:rPr lang="en" sz="2300"/>
              <a:t> callback to process returned data</a:t>
            </a:r>
            <a:endParaRPr sz="2300"/>
          </a:p>
          <a:p>
            <a:pPr marL="457200" lvl="0" indent="-374650" algn="l" rtl="0">
              <a:spcBef>
                <a:spcPts val="100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Use </a:t>
            </a:r>
            <a:r>
              <a:rPr lang="en" sz="2300">
                <a:latin typeface="Consolas"/>
                <a:ea typeface="Consolas"/>
                <a:cs typeface="Consolas"/>
                <a:sym typeface="Consolas"/>
              </a:rPr>
              <a:t>requestCode</a:t>
            </a:r>
            <a:r>
              <a:rPr lang="en" sz="2300"/>
              <a:t> to identify which </a:t>
            </a:r>
            <a:r>
              <a:rPr lang="en" sz="2300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 sz="2300"/>
              <a:t> has "returned"</a:t>
            </a:r>
            <a:endParaRPr sz="2300"/>
          </a:p>
        </p:txBody>
      </p:sp>
      <p:sp>
        <p:nvSpPr>
          <p:cNvPr id="537" name="Google Shape;537;p86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38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87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SzPts val="3600"/>
              <a:buAutoNum type="arabicPeriod"/>
            </a:pPr>
            <a:r>
              <a:rPr lang="en"/>
              <a:t>startActivityForResult() Example</a:t>
            </a:r>
            <a:endParaRPr/>
          </a:p>
        </p:txBody>
      </p:sp>
      <p:sp>
        <p:nvSpPr>
          <p:cNvPr id="543" name="Google Shape;543;p87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public static final int CHOOSE_FOOD_REQUEST = 1;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Intent intent = new Intent(this, ChooseFoodItemsActivity.class);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startActivityForResult(intent, CHOOSE_FOOD_REQUEST);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44" name="Google Shape;544;p87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39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88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SzPts val="3600"/>
              <a:buAutoNum type="arabicPeriod" startAt="2"/>
            </a:pPr>
            <a:r>
              <a:rPr lang="en"/>
              <a:t>Return data and finish second activity</a:t>
            </a:r>
            <a:endParaRPr/>
          </a:p>
        </p:txBody>
      </p:sp>
      <p:sp>
        <p:nvSpPr>
          <p:cNvPr id="550" name="Google Shape;550;p88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// Create an intent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Intent replyIntent = new Intent()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Put the data to return into the extra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replyIntent.putExtra(EXTRA_REPLY, reply);</a:t>
            </a:r>
            <a:endParaRPr sz="1800"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Set the activity's result to RESULT_OK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setResult(RESULT_OK, replyIntent);</a:t>
            </a:r>
            <a:endParaRPr sz="1800"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Finish the current activity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finish();</a:t>
            </a:r>
            <a:endParaRPr sz="1800"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1" name="Google Shape;551;p88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40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89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SzPts val="3600"/>
              <a:buAutoNum type="arabicPeriod" startAt="3"/>
            </a:pPr>
            <a:r>
              <a:rPr lang="en"/>
              <a:t>Implement onActivityResult()</a:t>
            </a:r>
            <a:endParaRPr/>
          </a:p>
        </p:txBody>
      </p:sp>
      <p:sp>
        <p:nvSpPr>
          <p:cNvPr id="557" name="Google Shape;557;p89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public void onActivityResult(int requestCode, 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  int resultCode, Intent data) {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super.onActivityResult(requestCode, resultCode, data);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if (requestCode == TEXT_REQUEST) { // Identify activity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if (resultCode == RESULT_OK) { // Activity succeeded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String reply = data.getStringExtra(SecondActivity.EXTRA_REPLY);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// … do something with the data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500"/>
              </a:spcBef>
              <a:spcAft>
                <a:spcPts val="20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}}}</a:t>
            </a:r>
            <a:endParaRPr sz="1800"/>
          </a:p>
        </p:txBody>
      </p:sp>
      <p:sp>
        <p:nvSpPr>
          <p:cNvPr id="558" name="Google Shape;558;p89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41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9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Navigation</a:t>
            </a:r>
            <a:endParaRPr/>
          </a:p>
        </p:txBody>
      </p:sp>
      <p:sp>
        <p:nvSpPr>
          <p:cNvPr id="564" name="Google Shape;564;p90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42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91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Activity stack</a:t>
            </a:r>
            <a:endParaRPr/>
          </a:p>
        </p:txBody>
      </p:sp>
      <p:sp>
        <p:nvSpPr>
          <p:cNvPr id="570" name="Google Shape;570;p91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When a new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/>
              <a:t> is started, the previous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/>
              <a:t> is stopped and pushed on the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/>
              <a:t> back stack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Last-in-first-out-stack—when the current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/>
              <a:t> ends, or the  user presses the Back button, it is popped from the stack and the previous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/>
              <a:t> resumes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p91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43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92"/>
          <p:cNvSpPr/>
          <p:nvPr/>
        </p:nvSpPr>
        <p:spPr>
          <a:xfrm rot="6853157">
            <a:off x="2443930" y="2752558"/>
            <a:ext cx="178052" cy="424177"/>
          </a:xfrm>
          <a:custGeom>
            <a:avLst/>
            <a:gdLst/>
            <a:ahLst/>
            <a:cxnLst/>
            <a:rect l="l" t="t" r="r" b="b"/>
            <a:pathLst>
              <a:path w="9614" h="16967" extrusionOk="0">
                <a:moveTo>
                  <a:pt x="4720" y="16967"/>
                </a:moveTo>
                <a:cubicBezTo>
                  <a:pt x="2500" y="14008"/>
                  <a:pt x="-456" y="10501"/>
                  <a:pt x="152" y="6852"/>
                </a:cubicBezTo>
                <a:cubicBezTo>
                  <a:pt x="792" y="3011"/>
                  <a:pt x="5720" y="0"/>
                  <a:pt x="9614" y="0"/>
                </a:cubicBezTo>
              </a:path>
            </a:pathLst>
          </a:custGeom>
          <a:noFill/>
          <a:ln w="28575" cap="flat" cmpd="sng">
            <a:solidFill>
              <a:srgbClr val="008000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577" name="Google Shape;577;p92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Activity Stack</a:t>
            </a:r>
            <a:endParaRPr/>
          </a:p>
        </p:txBody>
      </p:sp>
      <p:sp>
        <p:nvSpPr>
          <p:cNvPr id="578" name="Google Shape;578;p92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44</a:t>
            </a:fld>
            <a:endParaRPr/>
          </a:p>
        </p:txBody>
      </p:sp>
      <p:sp>
        <p:nvSpPr>
          <p:cNvPr id="579" name="Google Shape;579;p92"/>
          <p:cNvSpPr/>
          <p:nvPr/>
        </p:nvSpPr>
        <p:spPr>
          <a:xfrm>
            <a:off x="231225" y="3564783"/>
            <a:ext cx="1889700" cy="426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MainActivity</a:t>
            </a:r>
            <a:br>
              <a:rPr lang="en" sz="1200"/>
            </a:br>
            <a:r>
              <a:rPr lang="en" sz="1200"/>
              <a:t>What do you want to do?</a:t>
            </a:r>
            <a:endParaRPr sz="1200"/>
          </a:p>
        </p:txBody>
      </p:sp>
      <p:sp>
        <p:nvSpPr>
          <p:cNvPr id="580" name="Google Shape;580;p92"/>
          <p:cNvSpPr/>
          <p:nvPr/>
        </p:nvSpPr>
        <p:spPr>
          <a:xfrm>
            <a:off x="357785" y="3138057"/>
            <a:ext cx="1889700" cy="426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FoodListActivity</a:t>
            </a:r>
            <a:br>
              <a:rPr lang="en" sz="1200"/>
            </a:br>
            <a:r>
              <a:rPr lang="en" sz="1200"/>
              <a:t>Choose food items</a:t>
            </a:r>
            <a:endParaRPr sz="1200"/>
          </a:p>
        </p:txBody>
      </p:sp>
      <p:sp>
        <p:nvSpPr>
          <p:cNvPr id="581" name="Google Shape;581;p92"/>
          <p:cNvSpPr/>
          <p:nvPr/>
        </p:nvSpPr>
        <p:spPr>
          <a:xfrm>
            <a:off x="471424" y="2711331"/>
            <a:ext cx="1889700" cy="4269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rgbClr val="4CAF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CartActivity</a:t>
            </a:r>
            <a:br>
              <a:rPr lang="en" sz="1200"/>
            </a:br>
            <a:r>
              <a:rPr lang="en" sz="1200"/>
              <a:t>View shopping cart</a:t>
            </a:r>
            <a:endParaRPr sz="1200"/>
          </a:p>
        </p:txBody>
      </p:sp>
      <p:sp>
        <p:nvSpPr>
          <p:cNvPr id="582" name="Google Shape;582;p92"/>
          <p:cNvSpPr/>
          <p:nvPr/>
        </p:nvSpPr>
        <p:spPr>
          <a:xfrm>
            <a:off x="2412900" y="3551446"/>
            <a:ext cx="1889700" cy="426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MainActivity</a:t>
            </a:r>
            <a:br>
              <a:rPr lang="en" sz="1200"/>
            </a:br>
            <a:r>
              <a:rPr lang="en" sz="1200"/>
              <a:t>What do you want to do?</a:t>
            </a:r>
            <a:endParaRPr sz="1200"/>
          </a:p>
        </p:txBody>
      </p:sp>
      <p:sp>
        <p:nvSpPr>
          <p:cNvPr id="583" name="Google Shape;583;p92"/>
          <p:cNvSpPr/>
          <p:nvPr/>
        </p:nvSpPr>
        <p:spPr>
          <a:xfrm>
            <a:off x="2513534" y="3124719"/>
            <a:ext cx="1889700" cy="4269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rgbClr val="4CAF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FoodListActivity</a:t>
            </a:r>
            <a:br>
              <a:rPr lang="en" sz="1200"/>
            </a:br>
            <a:r>
              <a:rPr lang="en" sz="1200"/>
              <a:t>Choose food items</a:t>
            </a:r>
            <a:endParaRPr sz="1200"/>
          </a:p>
        </p:txBody>
      </p:sp>
      <p:sp>
        <p:nvSpPr>
          <p:cNvPr id="584" name="Google Shape;584;p92"/>
          <p:cNvSpPr/>
          <p:nvPr/>
        </p:nvSpPr>
        <p:spPr>
          <a:xfrm rot="-1860968">
            <a:off x="2525752" y="1838907"/>
            <a:ext cx="1913719" cy="421677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CartActivity</a:t>
            </a:r>
            <a:br>
              <a:rPr lang="en" sz="1200"/>
            </a:br>
            <a:r>
              <a:rPr lang="en" sz="1200"/>
              <a:t>View shopping cart</a:t>
            </a:r>
            <a:endParaRPr sz="1200"/>
          </a:p>
        </p:txBody>
      </p:sp>
      <p:sp>
        <p:nvSpPr>
          <p:cNvPr id="585" name="Google Shape;585;p92"/>
          <p:cNvSpPr/>
          <p:nvPr/>
        </p:nvSpPr>
        <p:spPr>
          <a:xfrm>
            <a:off x="4626712" y="3575879"/>
            <a:ext cx="1889700" cy="426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MainActivity</a:t>
            </a:r>
            <a:br>
              <a:rPr lang="en" sz="1200"/>
            </a:br>
            <a:r>
              <a:rPr lang="en" sz="1200"/>
              <a:t>What do you want to do?</a:t>
            </a:r>
            <a:endParaRPr sz="1200"/>
          </a:p>
        </p:txBody>
      </p:sp>
      <p:sp>
        <p:nvSpPr>
          <p:cNvPr id="586" name="Google Shape;586;p92"/>
          <p:cNvSpPr/>
          <p:nvPr/>
        </p:nvSpPr>
        <p:spPr>
          <a:xfrm>
            <a:off x="4753271" y="3149153"/>
            <a:ext cx="1889700" cy="426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FoodListActivity</a:t>
            </a:r>
            <a:br>
              <a:rPr lang="en" sz="1200"/>
            </a:br>
            <a:r>
              <a:rPr lang="en" sz="1200"/>
              <a:t>Choose food items</a:t>
            </a:r>
            <a:endParaRPr sz="1200"/>
          </a:p>
        </p:txBody>
      </p:sp>
      <p:sp>
        <p:nvSpPr>
          <p:cNvPr id="587" name="Google Shape;587;p92"/>
          <p:cNvSpPr/>
          <p:nvPr/>
        </p:nvSpPr>
        <p:spPr>
          <a:xfrm>
            <a:off x="4866911" y="2722427"/>
            <a:ext cx="1889700" cy="426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CartActivity</a:t>
            </a:r>
            <a:br>
              <a:rPr lang="en" sz="1200"/>
            </a:br>
            <a:r>
              <a:rPr lang="en" sz="1200"/>
              <a:t>View shopping cart</a:t>
            </a:r>
            <a:endParaRPr sz="1200"/>
          </a:p>
        </p:txBody>
      </p:sp>
      <p:sp>
        <p:nvSpPr>
          <p:cNvPr id="588" name="Google Shape;588;p92"/>
          <p:cNvSpPr/>
          <p:nvPr/>
        </p:nvSpPr>
        <p:spPr>
          <a:xfrm>
            <a:off x="4964855" y="2295701"/>
            <a:ext cx="1889700" cy="4269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rgbClr val="4CAF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OrderActivity</a:t>
            </a:r>
            <a:br>
              <a:rPr lang="en" sz="1200"/>
            </a:br>
            <a:r>
              <a:rPr lang="en" sz="1200"/>
              <a:t>Place order</a:t>
            </a:r>
            <a:endParaRPr sz="1200"/>
          </a:p>
        </p:txBody>
      </p:sp>
      <p:sp>
        <p:nvSpPr>
          <p:cNvPr id="589" name="Google Shape;589;p92"/>
          <p:cNvSpPr/>
          <p:nvPr/>
        </p:nvSpPr>
        <p:spPr>
          <a:xfrm>
            <a:off x="7033237" y="3545229"/>
            <a:ext cx="1889700" cy="4269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rgbClr val="4CAF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MainActivity</a:t>
            </a:r>
            <a:br>
              <a:rPr lang="en" sz="1200"/>
            </a:br>
            <a:r>
              <a:rPr lang="en" sz="1200"/>
              <a:t>What do you want to do?</a:t>
            </a:r>
            <a:endParaRPr sz="1200"/>
          </a:p>
        </p:txBody>
      </p:sp>
      <p:sp>
        <p:nvSpPr>
          <p:cNvPr id="590" name="Google Shape;590;p92"/>
          <p:cNvSpPr/>
          <p:nvPr/>
        </p:nvSpPr>
        <p:spPr>
          <a:xfrm rot="-785650">
            <a:off x="7223740" y="2661476"/>
            <a:ext cx="1889632" cy="426874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FoodListActivity</a:t>
            </a:r>
            <a:br>
              <a:rPr lang="en" sz="1200"/>
            </a:br>
            <a:r>
              <a:rPr lang="en" sz="1200"/>
              <a:t>Choose food items</a:t>
            </a:r>
            <a:endParaRPr sz="1200"/>
          </a:p>
        </p:txBody>
      </p:sp>
      <p:sp>
        <p:nvSpPr>
          <p:cNvPr id="591" name="Google Shape;591;p92"/>
          <p:cNvSpPr/>
          <p:nvPr/>
        </p:nvSpPr>
        <p:spPr>
          <a:xfrm rot="-1380450">
            <a:off x="7159789" y="1958406"/>
            <a:ext cx="1889720" cy="426932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CartActivity</a:t>
            </a:r>
            <a:br>
              <a:rPr lang="en" sz="1200"/>
            </a:br>
            <a:r>
              <a:rPr lang="en" sz="1200"/>
              <a:t>View shopping cart</a:t>
            </a:r>
            <a:endParaRPr sz="1200"/>
          </a:p>
        </p:txBody>
      </p:sp>
      <p:sp>
        <p:nvSpPr>
          <p:cNvPr id="592" name="Google Shape;592;p92"/>
          <p:cNvSpPr/>
          <p:nvPr/>
        </p:nvSpPr>
        <p:spPr>
          <a:xfrm rot="-2431520">
            <a:off x="7331298" y="1065984"/>
            <a:ext cx="1889705" cy="42705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OrderActivity</a:t>
            </a:r>
            <a:br>
              <a:rPr lang="en" sz="1200"/>
            </a:br>
            <a:r>
              <a:rPr lang="en" sz="1200"/>
              <a:t>Place order</a:t>
            </a:r>
            <a:endParaRPr sz="1200"/>
          </a:p>
        </p:txBody>
      </p:sp>
      <p:sp>
        <p:nvSpPr>
          <p:cNvPr id="593" name="Google Shape;593;p92"/>
          <p:cNvSpPr/>
          <p:nvPr/>
        </p:nvSpPr>
        <p:spPr>
          <a:xfrm>
            <a:off x="118553" y="3339400"/>
            <a:ext cx="240350" cy="424175"/>
          </a:xfrm>
          <a:custGeom>
            <a:avLst/>
            <a:gdLst/>
            <a:ahLst/>
            <a:cxnLst/>
            <a:rect l="l" t="t" r="r" b="b"/>
            <a:pathLst>
              <a:path w="9614" h="16967" extrusionOk="0">
                <a:moveTo>
                  <a:pt x="4720" y="16967"/>
                </a:moveTo>
                <a:cubicBezTo>
                  <a:pt x="2500" y="14008"/>
                  <a:pt x="-456" y="10501"/>
                  <a:pt x="152" y="6852"/>
                </a:cubicBezTo>
                <a:cubicBezTo>
                  <a:pt x="792" y="3011"/>
                  <a:pt x="5720" y="0"/>
                  <a:pt x="9614" y="0"/>
                </a:cubicBezTo>
              </a:path>
            </a:pathLst>
          </a:custGeom>
          <a:noFill/>
          <a:ln w="28575" cap="flat" cmpd="sng">
            <a:solidFill>
              <a:srgbClr val="008000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594" name="Google Shape;594;p92"/>
          <p:cNvSpPr/>
          <p:nvPr/>
        </p:nvSpPr>
        <p:spPr>
          <a:xfrm>
            <a:off x="231228" y="2872700"/>
            <a:ext cx="240350" cy="424175"/>
          </a:xfrm>
          <a:custGeom>
            <a:avLst/>
            <a:gdLst/>
            <a:ahLst/>
            <a:cxnLst/>
            <a:rect l="l" t="t" r="r" b="b"/>
            <a:pathLst>
              <a:path w="9614" h="16967" extrusionOk="0">
                <a:moveTo>
                  <a:pt x="4720" y="16967"/>
                </a:moveTo>
                <a:cubicBezTo>
                  <a:pt x="2500" y="14008"/>
                  <a:pt x="-456" y="10501"/>
                  <a:pt x="152" y="6852"/>
                </a:cubicBezTo>
                <a:cubicBezTo>
                  <a:pt x="792" y="3011"/>
                  <a:pt x="5720" y="0"/>
                  <a:pt x="9614" y="0"/>
                </a:cubicBezTo>
              </a:path>
            </a:pathLst>
          </a:custGeom>
          <a:noFill/>
          <a:ln w="28575" cap="flat" cmpd="sng">
            <a:solidFill>
              <a:srgbClr val="008000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595" name="Google Shape;595;p92"/>
          <p:cNvSpPr/>
          <p:nvPr/>
        </p:nvSpPr>
        <p:spPr>
          <a:xfrm>
            <a:off x="4732303" y="2452975"/>
            <a:ext cx="240350" cy="424175"/>
          </a:xfrm>
          <a:custGeom>
            <a:avLst/>
            <a:gdLst/>
            <a:ahLst/>
            <a:cxnLst/>
            <a:rect l="l" t="t" r="r" b="b"/>
            <a:pathLst>
              <a:path w="9614" h="16967" extrusionOk="0">
                <a:moveTo>
                  <a:pt x="4720" y="16967"/>
                </a:moveTo>
                <a:cubicBezTo>
                  <a:pt x="2500" y="14008"/>
                  <a:pt x="-456" y="10501"/>
                  <a:pt x="152" y="6852"/>
                </a:cubicBezTo>
                <a:cubicBezTo>
                  <a:pt x="792" y="3011"/>
                  <a:pt x="5720" y="0"/>
                  <a:pt x="9614" y="0"/>
                </a:cubicBezTo>
              </a:path>
            </a:pathLst>
          </a:custGeom>
          <a:noFill/>
          <a:ln w="28575" cap="flat" cmpd="sng">
            <a:solidFill>
              <a:srgbClr val="008000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596" name="Google Shape;596;p92"/>
          <p:cNvSpPr/>
          <p:nvPr/>
        </p:nvSpPr>
        <p:spPr>
          <a:xfrm>
            <a:off x="4421100" y="2986722"/>
            <a:ext cx="440475" cy="352675"/>
          </a:xfrm>
          <a:custGeom>
            <a:avLst/>
            <a:gdLst/>
            <a:ahLst/>
            <a:cxnLst/>
            <a:rect l="l" t="t" r="r" b="b"/>
            <a:pathLst>
              <a:path w="17619" h="14107" extrusionOk="0">
                <a:moveTo>
                  <a:pt x="0" y="14107"/>
                </a:moveTo>
                <a:cubicBezTo>
                  <a:pt x="5046" y="14107"/>
                  <a:pt x="5984" y="5976"/>
                  <a:pt x="9136" y="2035"/>
                </a:cubicBezTo>
                <a:cubicBezTo>
                  <a:pt x="10948" y="-231"/>
                  <a:pt x="14717" y="77"/>
                  <a:pt x="17619" y="77"/>
                </a:cubicBezTo>
              </a:path>
            </a:pathLst>
          </a:custGeom>
          <a:noFill/>
          <a:ln w="28575" cap="flat" cmpd="sng">
            <a:solidFill>
              <a:srgbClr val="008000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597" name="Google Shape;597;p92"/>
          <p:cNvSpPr/>
          <p:nvPr/>
        </p:nvSpPr>
        <p:spPr>
          <a:xfrm>
            <a:off x="6831697" y="2482925"/>
            <a:ext cx="215950" cy="1296950"/>
          </a:xfrm>
          <a:custGeom>
            <a:avLst/>
            <a:gdLst/>
            <a:ahLst/>
            <a:cxnLst/>
            <a:rect l="l" t="t" r="r" b="b"/>
            <a:pathLst>
              <a:path w="8638" h="51878" extrusionOk="0">
                <a:moveTo>
                  <a:pt x="1134" y="0"/>
                </a:moveTo>
                <a:cubicBezTo>
                  <a:pt x="8920" y="1556"/>
                  <a:pt x="9192" y="15634"/>
                  <a:pt x="6680" y="23166"/>
                </a:cubicBezTo>
                <a:cubicBezTo>
                  <a:pt x="4142" y="30777"/>
                  <a:pt x="-839" y="38371"/>
                  <a:pt x="155" y="46332"/>
                </a:cubicBezTo>
                <a:cubicBezTo>
                  <a:pt x="574" y="49684"/>
                  <a:pt x="5260" y="51878"/>
                  <a:pt x="8638" y="51878"/>
                </a:cubicBezTo>
              </a:path>
            </a:pathLst>
          </a:custGeom>
          <a:noFill/>
          <a:ln w="28575" cap="flat" cmpd="sng">
            <a:solidFill>
              <a:srgbClr val="008000"/>
            </a:solidFill>
            <a:prstDash val="solid"/>
            <a:round/>
            <a:headEnd type="none" w="med" len="med"/>
            <a:tailEnd type="triangle" w="med" len="med"/>
          </a:ln>
        </p:spPr>
      </p:sp>
      <p:grpSp>
        <p:nvGrpSpPr>
          <p:cNvPr id="598" name="Google Shape;598;p92"/>
          <p:cNvGrpSpPr/>
          <p:nvPr/>
        </p:nvGrpSpPr>
        <p:grpSpPr>
          <a:xfrm>
            <a:off x="2944675" y="1699850"/>
            <a:ext cx="742200" cy="840300"/>
            <a:chOff x="2944675" y="1166450"/>
            <a:chExt cx="742200" cy="840300"/>
          </a:xfrm>
        </p:grpSpPr>
        <p:cxnSp>
          <p:nvCxnSpPr>
            <p:cNvPr id="599" name="Google Shape;599;p92"/>
            <p:cNvCxnSpPr/>
            <p:nvPr/>
          </p:nvCxnSpPr>
          <p:spPr>
            <a:xfrm>
              <a:off x="2944675" y="1427475"/>
              <a:ext cx="742200" cy="4731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0" name="Google Shape;600;p92"/>
            <p:cNvCxnSpPr/>
            <p:nvPr/>
          </p:nvCxnSpPr>
          <p:spPr>
            <a:xfrm>
              <a:off x="3328050" y="1166450"/>
              <a:ext cx="32700" cy="84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601" name="Google Shape;601;p92"/>
          <p:cNvGrpSpPr/>
          <p:nvPr/>
        </p:nvGrpSpPr>
        <p:grpSpPr>
          <a:xfrm>
            <a:off x="7844397" y="1097182"/>
            <a:ext cx="638812" cy="698121"/>
            <a:chOff x="2944675" y="1166450"/>
            <a:chExt cx="742200" cy="840300"/>
          </a:xfrm>
        </p:grpSpPr>
        <p:cxnSp>
          <p:nvCxnSpPr>
            <p:cNvPr id="602" name="Google Shape;602;p92"/>
            <p:cNvCxnSpPr/>
            <p:nvPr/>
          </p:nvCxnSpPr>
          <p:spPr>
            <a:xfrm>
              <a:off x="2944675" y="1427475"/>
              <a:ext cx="742200" cy="4731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3" name="Google Shape;603;p92"/>
            <p:cNvCxnSpPr/>
            <p:nvPr/>
          </p:nvCxnSpPr>
          <p:spPr>
            <a:xfrm>
              <a:off x="3328050" y="1166450"/>
              <a:ext cx="32700" cy="84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604" name="Google Shape;604;p92"/>
          <p:cNvGrpSpPr/>
          <p:nvPr/>
        </p:nvGrpSpPr>
        <p:grpSpPr>
          <a:xfrm rot="1475339">
            <a:off x="7854682" y="1788071"/>
            <a:ext cx="638201" cy="662093"/>
            <a:chOff x="2944675" y="1166450"/>
            <a:chExt cx="742200" cy="840300"/>
          </a:xfrm>
        </p:grpSpPr>
        <p:cxnSp>
          <p:nvCxnSpPr>
            <p:cNvPr id="605" name="Google Shape;605;p92"/>
            <p:cNvCxnSpPr/>
            <p:nvPr/>
          </p:nvCxnSpPr>
          <p:spPr>
            <a:xfrm>
              <a:off x="2944675" y="1427475"/>
              <a:ext cx="742200" cy="4731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6" name="Google Shape;606;p92"/>
            <p:cNvCxnSpPr/>
            <p:nvPr/>
          </p:nvCxnSpPr>
          <p:spPr>
            <a:xfrm>
              <a:off x="3328050" y="1166450"/>
              <a:ext cx="32700" cy="84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607" name="Google Shape;607;p92"/>
          <p:cNvGrpSpPr/>
          <p:nvPr/>
        </p:nvGrpSpPr>
        <p:grpSpPr>
          <a:xfrm rot="1899850">
            <a:off x="7839258" y="2588589"/>
            <a:ext cx="619561" cy="572679"/>
            <a:chOff x="2944675" y="1166450"/>
            <a:chExt cx="742200" cy="840300"/>
          </a:xfrm>
        </p:grpSpPr>
        <p:cxnSp>
          <p:nvCxnSpPr>
            <p:cNvPr id="608" name="Google Shape;608;p92"/>
            <p:cNvCxnSpPr/>
            <p:nvPr/>
          </p:nvCxnSpPr>
          <p:spPr>
            <a:xfrm>
              <a:off x="2944675" y="1427475"/>
              <a:ext cx="742200" cy="4731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9" name="Google Shape;609;p92"/>
            <p:cNvCxnSpPr/>
            <p:nvPr/>
          </p:nvCxnSpPr>
          <p:spPr>
            <a:xfrm>
              <a:off x="3328050" y="1166450"/>
              <a:ext cx="32700" cy="84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10" name="Google Shape;610;p92"/>
          <p:cNvSpPr txBox="1"/>
          <p:nvPr/>
        </p:nvSpPr>
        <p:spPr>
          <a:xfrm>
            <a:off x="179625" y="1102175"/>
            <a:ext cx="2123400" cy="10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viewing shopping cart, user decides to add more items, then places order.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93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forms of navigation</a:t>
            </a:r>
            <a:endParaRPr/>
          </a:p>
        </p:txBody>
      </p:sp>
      <p:sp>
        <p:nvSpPr>
          <p:cNvPr id="616" name="Google Shape;616;p93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Temporal or back navigation</a:t>
            </a:r>
            <a:endParaRPr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provided by the device's </a:t>
            </a:r>
            <a:r>
              <a:rPr lang="en">
                <a:solidFill>
                  <a:schemeClr val="dk1"/>
                </a:solidFill>
              </a:rPr>
              <a:t>B</a:t>
            </a:r>
            <a:r>
              <a:rPr lang="en" sz="2400">
                <a:solidFill>
                  <a:schemeClr val="dk1"/>
                </a:solidFill>
              </a:rPr>
              <a:t>ack button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controlled by the Android system's back stack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2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Ancestral or up navigation</a:t>
            </a:r>
            <a:endParaRPr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provided by the Up button in app's action bar</a:t>
            </a:r>
            <a:endParaRPr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controlled by defining parent-child relationships between activities in the Android manifest</a:t>
            </a:r>
            <a:endParaRPr/>
          </a:p>
        </p:txBody>
      </p:sp>
      <p:sp>
        <p:nvSpPr>
          <p:cNvPr id="617" name="Google Shape;617;p93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45</a:t>
            </a:fld>
            <a:endParaRPr/>
          </a:p>
        </p:txBody>
      </p:sp>
      <p:pic>
        <p:nvPicPr>
          <p:cNvPr id="618" name="Google Shape;618;p93"/>
          <p:cNvPicPr preferRelativeResize="0"/>
          <p:nvPr/>
        </p:nvPicPr>
        <p:blipFill rotWithShape="1">
          <a:blip r:embed="rId3">
            <a:alphaModFix/>
          </a:blip>
          <a:srcRect b="9804"/>
          <a:stretch/>
        </p:blipFill>
        <p:spPr>
          <a:xfrm>
            <a:off x="271175" y="2815500"/>
            <a:ext cx="436400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9" name="Google Shape;619;p93"/>
          <p:cNvPicPr preferRelativeResize="0"/>
          <p:nvPr/>
        </p:nvPicPr>
        <p:blipFill rotWithShape="1">
          <a:blip r:embed="rId4">
            <a:alphaModFix/>
          </a:blip>
          <a:srcRect l="18187" t="24646" r="74313" b="24421"/>
          <a:stretch/>
        </p:blipFill>
        <p:spPr>
          <a:xfrm>
            <a:off x="271175" y="1240535"/>
            <a:ext cx="436401" cy="3896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94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Back navigation</a:t>
            </a:r>
            <a:endParaRPr/>
          </a:p>
        </p:txBody>
      </p:sp>
      <p:sp>
        <p:nvSpPr>
          <p:cNvPr id="625" name="Google Shape;625;p94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Back stack preserves history of recently viewed screens</a:t>
            </a:r>
            <a:endParaRPr sz="2000">
              <a:solidFill>
                <a:schemeClr val="dk1"/>
              </a:solidFill>
            </a:endParaRPr>
          </a:p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Back stack contains all the </a:t>
            </a: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 sz="2000">
                <a:solidFill>
                  <a:schemeClr val="dk1"/>
                </a:solidFill>
              </a:rPr>
              <a:t> instances that have been launched by the user in reverse order </a:t>
            </a:r>
            <a:r>
              <a:rPr lang="en" sz="2000" i="1">
                <a:solidFill>
                  <a:schemeClr val="dk1"/>
                </a:solidFill>
              </a:rPr>
              <a:t>for the current task</a:t>
            </a:r>
            <a:endParaRPr sz="2000" i="1">
              <a:solidFill>
                <a:schemeClr val="dk1"/>
              </a:solidFill>
            </a:endParaRPr>
          </a:p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/>
              <a:t>Each task has its own back stack</a:t>
            </a:r>
            <a:endParaRPr sz="2000"/>
          </a:p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Switching between tasks activates that task's back stack</a:t>
            </a:r>
            <a:endParaRPr sz="2000"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500"/>
              </a:spcBef>
              <a:spcAft>
                <a:spcPts val="200"/>
              </a:spcAft>
              <a:buNone/>
            </a:pPr>
            <a:endParaRPr sz="1800">
              <a:solidFill>
                <a:schemeClr val="dk1"/>
              </a:solidFill>
            </a:endParaRPr>
          </a:p>
        </p:txBody>
      </p:sp>
      <p:sp>
        <p:nvSpPr>
          <p:cNvPr id="626" name="Google Shape;626;p94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46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95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 navigation</a:t>
            </a:r>
            <a:endParaRPr/>
          </a:p>
        </p:txBody>
      </p:sp>
      <p:sp>
        <p:nvSpPr>
          <p:cNvPr id="632" name="Google Shape;632;p95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500"/>
              </a:spcBef>
              <a:spcAft>
                <a:spcPts val="200"/>
              </a:spcAft>
              <a:buNone/>
            </a:pPr>
            <a:endParaRPr/>
          </a:p>
        </p:txBody>
      </p:sp>
      <p:sp>
        <p:nvSpPr>
          <p:cNvPr id="633" name="Google Shape;633;p95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47</a:t>
            </a:fld>
            <a:endParaRPr/>
          </a:p>
        </p:txBody>
      </p:sp>
      <p:sp>
        <p:nvSpPr>
          <p:cNvPr id="634" name="Google Shape;634;p95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5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Goes to parent of current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Activity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Define an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/>
              <a:t> parent in Android manifest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Set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parentActivityName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&lt;activity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android:name=".ShowDinnerActivity"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android:</a:t>
            </a:r>
            <a:r>
              <a:rPr lang="en" sz="1800" b="1">
                <a:latin typeface="Consolas"/>
                <a:ea typeface="Consolas"/>
                <a:cs typeface="Consolas"/>
                <a:sym typeface="Consolas"/>
              </a:rPr>
              <a:t>parentActivityName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=".MainActivity" &gt;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&lt;/activity&gt;</a:t>
            </a:r>
            <a:endParaRPr/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500"/>
              </a:spcBef>
              <a:spcAft>
                <a:spcPts val="200"/>
              </a:spcAft>
              <a:buNone/>
            </a:pP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96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 more</a:t>
            </a:r>
            <a:endParaRPr/>
          </a:p>
        </p:txBody>
      </p:sp>
      <p:sp>
        <p:nvSpPr>
          <p:cNvPr id="640" name="Google Shape;640;p96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48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97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Learn more</a:t>
            </a:r>
            <a:endParaRPr/>
          </a:p>
        </p:txBody>
      </p:sp>
      <p:sp>
        <p:nvSpPr>
          <p:cNvPr id="646" name="Google Shape;646;p97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Android Application Fundamentals</a:t>
            </a:r>
            <a:endParaRPr/>
          </a:p>
          <a:p>
            <a:pPr marL="457200" lvl="0" indent="-381000" algn="l" rtl="0">
              <a:spcBef>
                <a:spcPts val="2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Starting Another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4"/>
              </a:rPr>
              <a:t>Activity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81000" algn="l" rtl="0">
              <a:spcBef>
                <a:spcPts val="2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5"/>
              </a:rPr>
              <a:t>Activity</a:t>
            </a:r>
            <a:r>
              <a:rPr lang="en"/>
              <a:t> (API Guide)</a:t>
            </a:r>
            <a:endParaRPr/>
          </a:p>
          <a:p>
            <a:pPr marL="457200" lvl="0" indent="-381000" algn="l" rtl="0">
              <a:spcBef>
                <a:spcPts val="2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6"/>
              </a:rPr>
              <a:t>Activity</a:t>
            </a:r>
            <a:r>
              <a:rPr lang="en"/>
              <a:t> (API Reference)</a:t>
            </a:r>
            <a:endParaRPr/>
          </a:p>
          <a:p>
            <a:pPr marL="457200" lvl="0" indent="-381000" algn="l" rtl="0">
              <a:spcBef>
                <a:spcPts val="2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7"/>
              </a:rPr>
              <a:t>Intent</a:t>
            </a:r>
            <a:r>
              <a:rPr lang="en" u="sng">
                <a:solidFill>
                  <a:schemeClr val="hlink"/>
                </a:solidFill>
                <a:hlinkClick r:id="rId7"/>
              </a:rPr>
              <a:t>s and Intent Filters</a:t>
            </a:r>
            <a:r>
              <a:rPr lang="en"/>
              <a:t> (API Guide)</a:t>
            </a:r>
            <a:endParaRPr/>
          </a:p>
          <a:p>
            <a:pPr marL="457200" lvl="0" indent="-381000" algn="l" rtl="0">
              <a:spcBef>
                <a:spcPts val="2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8"/>
              </a:rPr>
              <a:t>Intent</a:t>
            </a:r>
            <a:r>
              <a:rPr lang="en"/>
              <a:t> (API Reference)</a:t>
            </a:r>
            <a:endParaRPr/>
          </a:p>
          <a:p>
            <a:pPr marL="457200" lvl="0" indent="-381000" algn="l" rtl="0">
              <a:spcBef>
                <a:spcPts val="2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9"/>
              </a:rPr>
              <a:t>Navigation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47" name="Google Shape;647;p97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49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98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What's Next?</a:t>
            </a:r>
            <a:endParaRPr/>
          </a:p>
        </p:txBody>
      </p:sp>
      <p:sp>
        <p:nvSpPr>
          <p:cNvPr id="653" name="Google Shape;653;p98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50</a:t>
            </a:fld>
            <a:endParaRPr/>
          </a:p>
        </p:txBody>
      </p:sp>
      <p:sp>
        <p:nvSpPr>
          <p:cNvPr id="654" name="Google Shape;654;p98"/>
          <p:cNvSpPr txBox="1"/>
          <p:nvPr/>
        </p:nvSpPr>
        <p:spPr>
          <a:xfrm>
            <a:off x="159300" y="2063725"/>
            <a:ext cx="8832300" cy="1383300"/>
          </a:xfrm>
          <a:prstGeom prst="rect">
            <a:avLst/>
          </a:prstGeom>
          <a:noFill/>
          <a:ln w="38100" cap="flat" cmpd="sng">
            <a:solidFill>
              <a:srgbClr val="4CAF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Concept Chapter: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2.1 Activities and Intents</a:t>
            </a:r>
            <a:endParaRPr sz="24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Practical: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2.1 Activities and intents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9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</a:t>
            </a:r>
            <a:endParaRPr/>
          </a:p>
        </p:txBody>
      </p:sp>
      <p:sp>
        <p:nvSpPr>
          <p:cNvPr id="660" name="Google Shape;660;p9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99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51</a:t>
            </a:fld>
            <a:endParaRPr/>
          </a:p>
        </p:txBody>
      </p:sp>
      <p:sp>
        <p:nvSpPr>
          <p:cNvPr id="662" name="Google Shape;662;p9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1608</Words>
  <Application>Microsoft Office PowerPoint</Application>
  <PresentationFormat>On-screen Show (16:9)</PresentationFormat>
  <Paragraphs>370</Paragraphs>
  <Slides>51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51</vt:i4>
      </vt:variant>
    </vt:vector>
  </HeadingPairs>
  <TitlesOfParts>
    <vt:vector size="62" baseType="lpstr">
      <vt:lpstr>Arial</vt:lpstr>
      <vt:lpstr>Courier New</vt:lpstr>
      <vt:lpstr>Consolas</vt:lpstr>
      <vt:lpstr>Open Sans</vt:lpstr>
      <vt:lpstr>Verdana</vt:lpstr>
      <vt:lpstr>Tahoma</vt:lpstr>
      <vt:lpstr>Roboto</vt:lpstr>
      <vt:lpstr>GDT master</vt:lpstr>
      <vt:lpstr>GDT master</vt:lpstr>
      <vt:lpstr>GDT master</vt:lpstr>
      <vt:lpstr>GDT master</vt:lpstr>
      <vt:lpstr>Activities and Intents</vt:lpstr>
      <vt:lpstr>2.1 Activities and Intents</vt:lpstr>
      <vt:lpstr>Contents</vt:lpstr>
      <vt:lpstr>Activities (high-level view)</vt:lpstr>
      <vt:lpstr>What is an Activity?</vt:lpstr>
      <vt:lpstr>What does an Activity do?</vt:lpstr>
      <vt:lpstr>Examples of activities</vt:lpstr>
      <vt:lpstr>Apps and activities</vt:lpstr>
      <vt:lpstr>Layouts and Activities</vt:lpstr>
      <vt:lpstr>Implementing Activities</vt:lpstr>
      <vt:lpstr>Implement new activities</vt:lpstr>
      <vt:lpstr>Define layout in XML</vt:lpstr>
      <vt:lpstr>2. Define Activity Java class</vt:lpstr>
      <vt:lpstr>3. Connect activity with layout</vt:lpstr>
      <vt:lpstr>4. Declare activity in Android manifest</vt:lpstr>
      <vt:lpstr>4. Declare main activity in manifest</vt:lpstr>
      <vt:lpstr>Intents</vt:lpstr>
      <vt:lpstr>What is an intent?</vt:lpstr>
      <vt:lpstr>What can intents do?</vt:lpstr>
      <vt:lpstr>Explicit and implicit intents</vt:lpstr>
      <vt:lpstr>Starting Activities</vt:lpstr>
      <vt:lpstr>Start an Activity with an explicit intent</vt:lpstr>
      <vt:lpstr>Start an Activity with implicit intent</vt:lpstr>
      <vt:lpstr>Implicit Intents - Examples</vt:lpstr>
      <vt:lpstr>Implicit Intents - Examples</vt:lpstr>
      <vt:lpstr>Implicit Intents - Examples</vt:lpstr>
      <vt:lpstr>Implicit Intents - Examples</vt:lpstr>
      <vt:lpstr>Filtering Intent to be browsable</vt:lpstr>
      <vt:lpstr>How Activities Run</vt:lpstr>
      <vt:lpstr>Sending and Receiving Data</vt:lpstr>
      <vt:lpstr>Two types of sending data with intents</vt:lpstr>
      <vt:lpstr>Sending and retrieving data</vt:lpstr>
      <vt:lpstr>Putting a URI as intent data</vt:lpstr>
      <vt:lpstr>Put information into intent extras</vt:lpstr>
      <vt:lpstr>Sending data to an activity with extras</vt:lpstr>
      <vt:lpstr>Get data from intents</vt:lpstr>
      <vt:lpstr>Returning data to the starting activity</vt:lpstr>
      <vt:lpstr>startActivityForResult()</vt:lpstr>
      <vt:lpstr>startActivityForResult() Example</vt:lpstr>
      <vt:lpstr>Return data and finish second activity</vt:lpstr>
      <vt:lpstr>Implement onActivityResult()</vt:lpstr>
      <vt:lpstr>Navigation</vt:lpstr>
      <vt:lpstr>Activity stack</vt:lpstr>
      <vt:lpstr>Activity Stack</vt:lpstr>
      <vt:lpstr>Two forms of navigation</vt:lpstr>
      <vt:lpstr> Back navigation</vt:lpstr>
      <vt:lpstr>Up navigation</vt:lpstr>
      <vt:lpstr>Learn more</vt:lpstr>
      <vt:lpstr>Learn more</vt:lpstr>
      <vt:lpstr>What's Next?</vt:lpstr>
      <vt:lpstr>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Activities and Intents</dc:title>
  <cp:lastModifiedBy>Admin</cp:lastModifiedBy>
  <cp:revision>6</cp:revision>
  <dcterms:modified xsi:type="dcterms:W3CDTF">2024-06-30T20:11:21Z</dcterms:modified>
</cp:coreProperties>
</file>