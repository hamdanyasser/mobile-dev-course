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  <p:sldMasterId id="2147483697" r:id="rId2"/>
    <p:sldMasterId id="2147483698" r:id="rId3"/>
    <p:sldMasterId id="2147483699" r:id="rId4"/>
  </p:sldMasterIdLst>
  <p:notesMasterIdLst>
    <p:notesMasterId r:id="rId4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285" r:id="rId44"/>
    <p:sldId id="286" r:id="rId45"/>
    <p:sldId id="287" r:id="rId4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8"/>
      <p:bold r:id="rId49"/>
      <p:italic r:id="rId50"/>
      <p:boldItalic r:id="rId51"/>
    </p:embeddedFont>
    <p:embeddedFont>
      <p:font typeface="Open Sans" panose="020B0604020202020204" charset="0"/>
      <p:regular r:id="rId52"/>
      <p:bold r:id="rId53"/>
      <p:italic r:id="rId54"/>
      <p:boldItalic r:id="rId55"/>
    </p:embeddedFont>
    <p:embeddedFont>
      <p:font typeface="Roboto" panose="020B0604020202020204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8" Type="http://schemas.openxmlformats.org/officeDocument/2006/relationships/slide" Target="slides/slide4.xml"/><Relationship Id="rId51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7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5.fntdata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16d7d9d49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16d7d9d49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83a708a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83a708a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9058cd991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9058cd991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27ebdff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27ebdff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67103055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67103055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27ebdffc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27ebdffc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623af889d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623af889d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9058cd991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9058cd991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67aa53e5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67aa53e5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623af889d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623af889d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623af889d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623af889d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83a708aff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83a708aff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83a708aff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83a708aff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623af889d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623af889d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83a708aff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83a708aff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9058cd991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9058cd991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27e0387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27e03875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e03875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27e03875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841c5b34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841c5b34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27e03875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27e03875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27e03875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27e03875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671030553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671030553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623df383d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623df383d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9058cd991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9058cd991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623df383d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623df383d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6743fd38d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6743fd38d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83a708aff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83a708aff_0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6743fd38d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6743fd38d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5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Shape 5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Shape 5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hape 5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Shape 5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Shape 5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Shape 5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5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Shape 5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5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Shape 5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6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Shape 6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6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Shape 6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Shape 6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Shape 6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83a708aff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83a708aff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83a708af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183a708af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83a708aff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83a708aff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creativecommons.org/licenses/by/4.0/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 descr="Android-spli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9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Interaction and Intuitive Navigation - Lesson 4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2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2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>
            <a:spLocks noGrp="1"/>
          </p:cNvSpPr>
          <p:nvPr>
            <p:ph type="sldNum" idx="4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2"/>
          <p:cNvSpPr txBox="1"/>
          <p:nvPr/>
        </p:nvSpPr>
        <p:spPr>
          <a:xfrm>
            <a:off x="2305475" y="4761375"/>
            <a:ext cx="2314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2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title and description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244" name="Shape 24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5" name="Shape 24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6" name="Shape 24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rtl="0">
              <a:spcBef>
                <a:spcPts val="0"/>
              </a:spcBef>
              <a:buSzPts val="2400"/>
              <a:buChar char="●"/>
              <a:defRPr/>
            </a:lvl1pPr>
            <a:lvl2pPr lvl="1" rtl="0">
              <a:spcBef>
                <a:spcPts val="0"/>
              </a:spcBef>
              <a:buSzPts val="1800"/>
              <a:buChar char="○"/>
              <a:defRPr/>
            </a:lvl2pPr>
            <a:lvl3pPr lvl="2" rtl="0">
              <a:spcBef>
                <a:spcPts val="0"/>
              </a:spcBef>
              <a:buSzPts val="1400"/>
              <a:buChar char="■"/>
              <a:defRPr/>
            </a:lvl3pPr>
            <a:lvl4pPr lvl="3" rtl="0">
              <a:spcBef>
                <a:spcPts val="0"/>
              </a:spcBef>
              <a:buSzPts val="1400"/>
              <a:buChar char="●"/>
              <a:defRPr/>
            </a:lvl4pPr>
            <a:lvl5pPr lvl="4" rtl="0">
              <a:spcBef>
                <a:spcPts val="0"/>
              </a:spcBef>
              <a:buSzPts val="1400"/>
              <a:buChar char="○"/>
              <a:defRPr/>
            </a:lvl5pPr>
            <a:lvl6pPr lvl="5" rtl="0">
              <a:spcBef>
                <a:spcPts val="0"/>
              </a:spcBef>
              <a:buSzPts val="1400"/>
              <a:buChar char="■"/>
              <a:defRPr/>
            </a:lvl6pPr>
            <a:lvl7pPr lvl="6" rtl="0">
              <a:spcBef>
                <a:spcPts val="0"/>
              </a:spcBef>
              <a:buSzPts val="1400"/>
              <a:buChar char="●"/>
              <a:defRPr/>
            </a:lvl7pPr>
            <a:lvl8pPr lvl="7" rtl="0">
              <a:spcBef>
                <a:spcPts val="0"/>
              </a:spcBef>
              <a:buSzPts val="1400"/>
              <a:buChar char="○"/>
              <a:defRPr/>
            </a:lvl8pPr>
            <a:lvl9pPr lvl="8" rtl="0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7" name="Shape 24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58559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3" name="Google Shape;123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5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5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4" name="Google Shape;164;p31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5" name="Google Shape;165;p3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4" name="Google Shape;174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5" name="Google Shape;175;p3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8" name="Google Shape;178;p3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2" name="Google Shape;182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3" name="Google Shape;183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4" name="Google Shape;184;p3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87" name="Google Shape;187;p3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0" name="Google Shape;190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3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8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8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3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0" name="Google Shape;200;p38"/>
          <p:cNvSpPr txBox="1">
            <a:spLocks noGrp="1"/>
          </p:cNvSpPr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8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02" name="Google Shape;20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1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6" name="Google Shape;216;p41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7" name="Google Shape;217;p4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0" name="Google Shape;220;p4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25" name="Google Shape;225;p4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8" name="Google Shape;228;p44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9" name="Google Shape;229;p4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4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8" name="Google Shape;238;p4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9" name="Google Shape;239;p4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2" name="Google Shape;242;p4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6" name="Google Shape;246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7" name="Google Shape;247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8" name="Google Shape;248;p4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9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251" name="Google Shape;251;p4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4" name="Google Shape;254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5" name="Google Shape;255;p5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51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5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51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51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1" name="Google Shape;261;p51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62" name="Google Shape;262;p51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63" name="Google Shape;263;p51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1"/>
          <p:cNvSpPr txBox="1">
            <a:spLocks noGrp="1"/>
          </p:cNvSpPr>
          <p:nvPr>
            <p:ph type="sldNum" idx="4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51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creativecommons.org/licenses/by/4.0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footer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29275" y="4761375"/>
            <a:ext cx="22977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6"/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70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4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2229275" y="4761375"/>
            <a:ext cx="2337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6870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/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0056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2229275" y="4761375"/>
            <a:ext cx="22977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/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0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11" name="Google Shape;211;p4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40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ndroid.com/reference/android/widget/Spinner.html" TargetMode="External"/><Relationship Id="rId3" Type="http://schemas.openxmlformats.org/officeDocument/2006/relationships/hyperlink" Target="https://developer.android.com/reference/android/widget/EditText.html" TargetMode="External"/><Relationship Id="rId7" Type="http://schemas.openxmlformats.org/officeDocument/2006/relationships/hyperlink" Target="https://developer.android.com/reference/android/widget/Switch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eveloper.android.com/reference/android/widget/RadioButton.html" TargetMode="External"/><Relationship Id="rId5" Type="http://schemas.openxmlformats.org/officeDocument/2006/relationships/hyperlink" Target="https://developer.android.com/reference/android/widget/CheckBox.html" TargetMode="External"/><Relationship Id="rId4" Type="http://schemas.openxmlformats.org/officeDocument/2006/relationships/hyperlink" Target="https://developer.android.com/reference/android/widget/SeekBar.html" TargetMode="Externa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widget/RadioGroup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view/View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view/View.html" TargetMode="External"/><Relationship Id="rId7" Type="http://schemas.openxmlformats.org/officeDocument/2006/relationships/hyperlink" Target="https://developer.android.com/reference/android/view/View.html#onFocusChanged(boolean,%20int,%20android.graphics.Rect)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veloper.android.com/reference/android/view/View.html#setOnFocusChangeListener(android.view.View.OnFocusChangeListener)" TargetMode="External"/><Relationship Id="rId5" Type="http://schemas.openxmlformats.org/officeDocument/2006/relationships/hyperlink" Target="https://developer.android.com/reference/android/view/View.html#requestFocus()" TargetMode="External"/><Relationship Id="rId4" Type="http://schemas.openxmlformats.org/officeDocument/2006/relationships/hyperlink" Target="https://developer.android.com/reference/android/view/View.html#setFocusable(boolean)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Activity.html#getCurrentFocus%28%29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eveloper.android.com/reference/android/view/ViewGroup.html#getFocusedChild()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edittex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developer.android.com/reference/android/widget/CheckBox.html" TargetMode="External"/><Relationship Id="rId7" Type="http://schemas.openxmlformats.org/officeDocument/2006/relationships/hyperlink" Target="https://developer.android.com/reference/android/widget/Spinner.html" TargetMode="External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veloper.android.com/reference/android/widget/Switch.html" TargetMode="External"/><Relationship Id="rId11" Type="http://schemas.openxmlformats.org/officeDocument/2006/relationships/image" Target="../media/image16.png"/><Relationship Id="rId5" Type="http://schemas.openxmlformats.org/officeDocument/2006/relationships/hyperlink" Target="https://developer.android.com/reference/android/widget/ToggleButton.html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developer.android.com/reference/android/widget/RadioButton.html" TargetMode="External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widget/RadioButton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hyperlink" Target="https://developer.android.com/reference/android/widget/RadioGroup.htm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widget/AdapterView.html#setOnItemSelectedListener(android.widget.AdapterView.OnItemSelectedListener)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://developer.android.com/guide/topics/ui/controls/spinner.html" TargetMode="External"/><Relationship Id="rId3" Type="http://schemas.openxmlformats.org/officeDocument/2006/relationships/hyperlink" Target="http://developer.android.com/guide/topics/ui/controls.html" TargetMode="External"/><Relationship Id="rId7" Type="http://schemas.openxmlformats.org/officeDocument/2006/relationships/hyperlink" Target="http://developer.android.com/guide/topics/ui/controls/text.htm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8.xml"/><Relationship Id="rId6" Type="http://schemas.openxmlformats.org/officeDocument/2006/relationships/hyperlink" Target="https://developer.android.com/training/keyboard-input/style.html#Action" TargetMode="External"/><Relationship Id="rId5" Type="http://schemas.openxmlformats.org/officeDocument/2006/relationships/hyperlink" Target="http://developer.android.com/training/keyboard-input/style.html" TargetMode="External"/><Relationship Id="rId4" Type="http://schemas.openxmlformats.org/officeDocument/2006/relationships/hyperlink" Target="https://developer.android.com/guide/topics/ui/controls/radiobutton.html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-developer-training.github.io/android-developer-fundamentals-course-concepts-v2/unit-2-user-experience/lesson-4-user-interaction/4-2-c-input-controls/4-2-c-input-controls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codelabs.developers.google.com/codelabs/android-training-input-controls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3" name="Google Shape;273;p53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4" name="Google Shape;274;p53"/>
          <p:cNvSpPr txBox="1">
            <a:spLocks noGrp="1"/>
          </p:cNvSpPr>
          <p:nvPr>
            <p:ph type="title"/>
          </p:nvPr>
        </p:nvSpPr>
        <p:spPr>
          <a:xfrm>
            <a:off x="265500" y="1154475"/>
            <a:ext cx="4045200" cy="17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Interaction </a:t>
            </a:r>
            <a:endParaRPr/>
          </a:p>
        </p:txBody>
      </p:sp>
      <p:sp>
        <p:nvSpPr>
          <p:cNvPr id="275" name="Google Shape;275;p53"/>
          <p:cNvSpPr txBox="1">
            <a:spLocks noGrp="1"/>
          </p:cNvSpPr>
          <p:nvPr>
            <p:ph type="sldNum" idx="4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6" name="Google Shape;276;p53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277" name="Google Shape;277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4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4"/>
          <p:cNvSpPr txBox="1">
            <a:spLocks noGrp="1"/>
          </p:cNvSpPr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4.2 Input Controls</a:t>
            </a:r>
            <a:endParaRPr/>
          </a:p>
        </p:txBody>
      </p:sp>
      <p:sp>
        <p:nvSpPr>
          <p:cNvPr id="283" name="Google Shape;283;p54"/>
          <p:cNvSpPr txBox="1">
            <a:spLocks noGrp="1"/>
          </p:cNvSpPr>
          <p:nvPr>
            <p:ph type="subTitle" idx="1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Updated Sum19</a:t>
            </a:r>
            <a:br>
              <a:rPr lang="en-US" i="1" dirty="0"/>
            </a:br>
            <a:r>
              <a:rPr lang="en-US" i="1" dirty="0"/>
              <a:t>Added: Spinners</a:t>
            </a:r>
            <a:endParaRPr i="1" dirty="0"/>
          </a:p>
        </p:txBody>
      </p:sp>
      <p:sp>
        <p:nvSpPr>
          <p:cNvPr id="284" name="Google Shape;284;p5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5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0" name="Google Shape;290;p55"/>
          <p:cNvSpPr txBox="1">
            <a:spLocks noGrp="1"/>
          </p:cNvSpPr>
          <p:nvPr>
            <p:ph type="body" idx="1"/>
          </p:nvPr>
        </p:nvSpPr>
        <p:spPr>
          <a:xfrm>
            <a:off x="311700" y="1213525"/>
            <a:ext cx="8398800" cy="3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Overview of input controls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View focus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Freeform text and numbers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Providing choices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91" name="Google Shape;291;p5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6"/>
          <p:cNvSpPr txBox="1">
            <a:spLocks noGrp="1"/>
          </p:cNvSpPr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input Controls</a:t>
            </a:r>
            <a:endParaRPr/>
          </a:p>
        </p:txBody>
      </p:sp>
      <p:sp>
        <p:nvSpPr>
          <p:cNvPr id="297" name="Google Shape;297;p5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5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7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Accepting user input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4" name="Google Shape;304;p57"/>
          <p:cNvSpPr txBox="1">
            <a:spLocks noGrp="1"/>
          </p:cNvSpPr>
          <p:nvPr>
            <p:ph type="body" idx="1"/>
          </p:nvPr>
        </p:nvSpPr>
        <p:spPr>
          <a:xfrm>
            <a:off x="311700" y="1316225"/>
            <a:ext cx="8398800" cy="31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Freeform text and numbers: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chemeClr val="dk1"/>
                </a:solidFill>
              </a:rPr>
              <a:t> (using keyboard)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Providing choices: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Spinner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</a:rPr>
              <a:t>Switching on/off: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Toggle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Choosing value in range of values: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SeekBar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305" name="Google Shape;305;p5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82600" cy="39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EditText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SeekBar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CheckBox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AutoNum type="arabicPeriod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RadioButton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Switch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Spinner</a:t>
            </a:r>
            <a:r>
              <a:rPr lang="en">
                <a:solidFill>
                  <a:schemeClr val="dk1"/>
                </a:solidFill>
              </a:rPr>
              <a:t> </a:t>
            </a:r>
            <a:endParaRPr sz="1800"/>
          </a:p>
        </p:txBody>
      </p:sp>
      <p:sp>
        <p:nvSpPr>
          <p:cNvPr id="311" name="Google Shape;311;p5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Examples of input controls</a:t>
            </a:r>
            <a:endParaRPr/>
          </a:p>
        </p:txBody>
      </p:sp>
      <p:sp>
        <p:nvSpPr>
          <p:cNvPr id="312" name="Google Shape;312;p5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313" name="Google Shape;313;p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05125" y="1745395"/>
            <a:ext cx="5267325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9"/>
          <p:cNvSpPr txBox="1">
            <a:spLocks noGrp="1"/>
          </p:cNvSpPr>
          <p:nvPr>
            <p:ph type="body" idx="1"/>
          </p:nvPr>
        </p:nvSpPr>
        <p:spPr>
          <a:xfrm>
            <a:off x="311700" y="933475"/>
            <a:ext cx="8080200" cy="41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chemeClr val="dk1"/>
                </a:solidFill>
              </a:rPr>
              <a:t> for entering text using keyboard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SeekBar</a:t>
            </a:r>
            <a:r>
              <a:rPr lang="en">
                <a:solidFill>
                  <a:schemeClr val="dk1"/>
                </a:solidFill>
              </a:rPr>
              <a:t> for sliding left or right to a setting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Combine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en">
                <a:solidFill>
                  <a:schemeClr val="dk1"/>
                </a:solidFill>
              </a:rPr>
              <a:t> elements for choosing more than one option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Combine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r>
              <a:rPr lang="en">
                <a:solidFill>
                  <a:schemeClr val="dk1"/>
                </a:solidFill>
              </a:rPr>
              <a:t> elements into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RadioGroup</a:t>
            </a:r>
            <a:r>
              <a:rPr lang="en">
                <a:solidFill>
                  <a:schemeClr val="dk1"/>
                </a:solidFill>
              </a:rPr>
              <a:t> — user makes only one choice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">
                <a:solidFill>
                  <a:schemeClr val="dk1"/>
                </a:solidFill>
              </a:rPr>
              <a:t> for tapping on or off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Spinner</a:t>
            </a:r>
            <a:r>
              <a:rPr lang="en">
                <a:solidFill>
                  <a:schemeClr val="dk1"/>
                </a:solidFill>
              </a:rPr>
              <a:t> for choosing a single item from a list</a:t>
            </a:r>
            <a:endParaRPr/>
          </a:p>
        </p:txBody>
      </p:sp>
      <p:sp>
        <p:nvSpPr>
          <p:cNvPr id="319" name="Google Shape;319;p5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input controls work</a:t>
            </a:r>
            <a:endParaRPr/>
          </a:p>
        </p:txBody>
      </p:sp>
      <p:sp>
        <p:nvSpPr>
          <p:cNvPr id="320" name="Google Shape;320;p5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is base class for input controls</a:t>
            </a:r>
            <a:endParaRPr/>
          </a:p>
        </p:txBody>
      </p:sp>
      <p:sp>
        <p:nvSpPr>
          <p:cNvPr id="326" name="Google Shape;326;p6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View</a:t>
            </a:r>
            <a:r>
              <a:rPr lang="en"/>
              <a:t> class is the basic building block for all UI components, including input controls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 is the base class for classes that provide interactive UI components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 provides basic interaction through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android:onClick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7" name="Google Shape;327;p6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1"/>
          <p:cNvSpPr txBox="1">
            <a:spLocks noGrp="1"/>
          </p:cNvSpPr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focus</a:t>
            </a:r>
            <a:endParaRPr/>
          </a:p>
        </p:txBody>
      </p:sp>
      <p:sp>
        <p:nvSpPr>
          <p:cNvPr id="333" name="Google Shape;333;p6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6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</a:t>
            </a:r>
            <a:endParaRPr/>
          </a:p>
        </p:txBody>
      </p:sp>
      <p:sp>
        <p:nvSpPr>
          <p:cNvPr id="340" name="Google Shape;340;p62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View that receives user input has "Focus"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one View can have focus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Focus makes it unambiguous which View gets the input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Focus is assigned by</a:t>
            </a:r>
            <a:endParaRPr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User tapping a View</a:t>
            </a:r>
            <a:endParaRPr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App guiding the user from one text input control to the next using the </a:t>
            </a:r>
            <a:r>
              <a:rPr lang="en" b="1"/>
              <a:t>Return</a:t>
            </a:r>
            <a:r>
              <a:rPr lang="en"/>
              <a:t>, </a:t>
            </a:r>
            <a:r>
              <a:rPr lang="en" b="1"/>
              <a:t>Tab</a:t>
            </a:r>
            <a:r>
              <a:rPr lang="en"/>
              <a:t>, or arrow keys</a:t>
            </a:r>
            <a:endParaRPr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Calling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requestFocus()</a:t>
            </a:r>
            <a:r>
              <a:rPr lang="en"/>
              <a:t> on any View that is focusable</a:t>
            </a:r>
            <a:endParaRPr/>
          </a:p>
        </p:txBody>
      </p:sp>
      <p:sp>
        <p:nvSpPr>
          <p:cNvPr id="341" name="Google Shape;341;p6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Clickable versus focusable</a:t>
            </a:r>
            <a:endParaRPr/>
          </a:p>
        </p:txBody>
      </p:sp>
      <p:sp>
        <p:nvSpPr>
          <p:cNvPr id="347" name="Google Shape;347;p6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/>
              <a:t>Clickable</a:t>
            </a:r>
            <a:r>
              <a:rPr lang="en"/>
              <a:t>—View can respond to being clicked or tapped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/>
              <a:t>Focusable</a:t>
            </a:r>
            <a:r>
              <a:rPr lang="en"/>
              <a:t>—View can gain focus to accept input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Input controls such as keyboards send input to the view that has focus</a:t>
            </a:r>
            <a:endParaRPr/>
          </a:p>
        </p:txBody>
      </p:sp>
      <p:sp>
        <p:nvSpPr>
          <p:cNvPr id="348" name="Google Shape;348;p6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View gets focus next?</a:t>
            </a:r>
            <a:endParaRPr/>
          </a:p>
        </p:txBody>
      </p:sp>
      <p:sp>
        <p:nvSpPr>
          <p:cNvPr id="354" name="Google Shape;354;p64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1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Topmost view under the touch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After user submits input, focus moves to nearest neighbor—</a:t>
            </a:r>
            <a:r>
              <a:rPr lang="en" sz="2400"/>
              <a:t>priority is left to right, top to bottom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Focus can change when user interacts with a directional control</a:t>
            </a:r>
            <a:endParaRPr/>
          </a:p>
        </p:txBody>
      </p:sp>
      <p:sp>
        <p:nvSpPr>
          <p:cNvPr id="355" name="Google Shape;355;p6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Guiding users</a:t>
            </a:r>
            <a:endParaRPr/>
          </a:p>
        </p:txBody>
      </p:sp>
      <p:sp>
        <p:nvSpPr>
          <p:cNvPr id="361" name="Google Shape;361;p65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Visually indicate which view has focus so users knows where their input goes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Visually indicate which views can have focus helps users navigate through flow</a:t>
            </a: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Predictable and logical—no surprises!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62" name="Google Shape;362;p6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Guiding focus</a:t>
            </a:r>
            <a:endParaRPr/>
          </a:p>
        </p:txBody>
      </p:sp>
      <p:sp>
        <p:nvSpPr>
          <p:cNvPr id="368" name="Google Shape;368;p66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Arrange input controls in a layout from left to right and top to bottom in the order you want focus assigned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Place input controls inside a view group in your layout 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Specify ordering in XML</a:t>
            </a:r>
            <a:endParaRPr/>
          </a:p>
          <a:p>
            <a:pPr marL="91440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android:id="@+id/top"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android:focusable="true"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android:nextFocusDown="@+id/bottom"</a:t>
            </a:r>
            <a:endParaRPr/>
          </a:p>
        </p:txBody>
      </p:sp>
      <p:sp>
        <p:nvSpPr>
          <p:cNvPr id="369" name="Google Shape;369;p6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focus explicitly</a:t>
            </a:r>
            <a:endParaRPr/>
          </a:p>
        </p:txBody>
      </p:sp>
      <p:sp>
        <p:nvSpPr>
          <p:cNvPr id="375" name="Google Shape;375;p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Use methods of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View</a:t>
            </a:r>
            <a:r>
              <a:rPr lang="en"/>
              <a:t> class to set focus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setFocusable()</a:t>
            </a:r>
            <a:r>
              <a:rPr lang="en"/>
              <a:t> sets whether a view can have focus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requestFocus()</a:t>
            </a:r>
            <a:r>
              <a:rPr lang="en"/>
              <a:t> gives focus to a specific view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setOnFocusChangeListener()</a:t>
            </a:r>
            <a:r>
              <a:rPr lang="en"/>
              <a:t> sets listener for when view gains or loses focus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onFocusChanged()</a:t>
            </a:r>
            <a:r>
              <a:rPr lang="en"/>
              <a:t> called when focus on a view changes</a:t>
            </a:r>
            <a:endParaRPr/>
          </a:p>
        </p:txBody>
      </p:sp>
      <p:sp>
        <p:nvSpPr>
          <p:cNvPr id="376" name="Google Shape;376;p6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view with focus</a:t>
            </a:r>
            <a:endParaRPr/>
          </a:p>
        </p:txBody>
      </p:sp>
      <p:sp>
        <p:nvSpPr>
          <p:cNvPr id="382" name="Google Shape;382;p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Activity.getCurrentFocus()</a:t>
            </a:r>
            <a:r>
              <a:rPr lang="en"/>
              <a:t> 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ViewGroup.getFocusedChild()</a:t>
            </a:r>
            <a:endParaRPr/>
          </a:p>
        </p:txBody>
      </p:sp>
      <p:sp>
        <p:nvSpPr>
          <p:cNvPr id="383" name="Google Shape;383;p6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9"/>
          <p:cNvSpPr txBox="1">
            <a:spLocks noGrp="1"/>
          </p:cNvSpPr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Freeform text and numbers</a:t>
            </a:r>
            <a:endParaRPr/>
          </a:p>
        </p:txBody>
      </p:sp>
      <p:sp>
        <p:nvSpPr>
          <p:cNvPr id="389" name="Google Shape;389;p6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6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multiple lines of text</a:t>
            </a:r>
            <a:endParaRPr/>
          </a:p>
        </p:txBody>
      </p:sp>
      <p:sp>
        <p:nvSpPr>
          <p:cNvPr id="396" name="Google Shape;396;p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EditText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default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Alphanumeric keyboard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Suggestions appear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</a:t>
            </a:r>
            <a:r>
              <a:rPr lang="en" b="1">
                <a:solidFill>
                  <a:srgbClr val="333333"/>
                </a:solidFill>
                <a:highlight>
                  <a:srgbClr val="FFFFFF"/>
                </a:highlight>
              </a:rPr>
              <a:t>Return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(</a:t>
            </a:r>
            <a:r>
              <a:rPr lang="en" b="1">
                <a:solidFill>
                  <a:srgbClr val="333333"/>
                </a:solidFill>
                <a:highlight>
                  <a:srgbClr val="FFFFFF"/>
                </a:highlight>
              </a:rPr>
              <a:t>Enter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) key starts new line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397" name="Google Shape;397;p7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398" name="Google Shape;398;p70"/>
          <p:cNvPicPr preferRelativeResize="0"/>
          <p:nvPr/>
        </p:nvPicPr>
        <p:blipFill rotWithShape="1">
          <a:blip r:embed="rId4">
            <a:alphaModFix/>
          </a:blip>
          <a:srcRect l="43800" r="9814"/>
          <a:stretch/>
        </p:blipFill>
        <p:spPr>
          <a:xfrm>
            <a:off x="5614600" y="1266938"/>
            <a:ext cx="2691075" cy="26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70"/>
          <p:cNvSpPr txBox="1"/>
          <p:nvPr/>
        </p:nvSpPr>
        <p:spPr>
          <a:xfrm>
            <a:off x="7150350" y="3973775"/>
            <a:ext cx="1761300" cy="52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key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70"/>
          <p:cNvSpPr/>
          <p:nvPr/>
        </p:nvSpPr>
        <p:spPr>
          <a:xfrm>
            <a:off x="7922677" y="3585750"/>
            <a:ext cx="239400" cy="528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Customize with inputType</a:t>
            </a:r>
            <a:endParaRPr/>
          </a:p>
        </p:txBody>
      </p:sp>
      <p:sp>
        <p:nvSpPr>
          <p:cNvPr id="406" name="Google Shape;406;p71"/>
          <p:cNvSpPr txBox="1">
            <a:spLocks noGrp="1"/>
          </p:cNvSpPr>
          <p:nvPr>
            <p:ph type="body" idx="1"/>
          </p:nvPr>
        </p:nvSpPr>
        <p:spPr>
          <a:xfrm>
            <a:off x="311700" y="1148150"/>
            <a:ext cx="5718600" cy="322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in Attributes pane of layout editor</a:t>
            </a:r>
            <a:endParaRPr/>
          </a:p>
          <a:p>
            <a:pPr marL="457200" lvl="0" indent="-381000" algn="l" rtl="0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XML code for EditText: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&lt;EditText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android:id="@+id/name_field"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android:inputType =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         "textPersonName"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7" name="Google Shape;407;p7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408" name="Google Shape;40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4225" y="170824"/>
            <a:ext cx="1626575" cy="49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message</a:t>
            </a:r>
            <a:endParaRPr/>
          </a:p>
        </p:txBody>
      </p:sp>
      <p:sp>
        <p:nvSpPr>
          <p:cNvPr id="414" name="Google Shape;414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</a:t>
            </a:r>
            <a:b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="textShortMessage"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Single line of text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Emoticons key changes keyboard to emoticons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15" name="Google Shape;415;p7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416" name="Google Shape;41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2060" y="1400514"/>
            <a:ext cx="2660846" cy="253743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72"/>
          <p:cNvSpPr txBox="1"/>
          <p:nvPr/>
        </p:nvSpPr>
        <p:spPr>
          <a:xfrm>
            <a:off x="7455150" y="3973775"/>
            <a:ext cx="17613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Emoticons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72"/>
          <p:cNvSpPr/>
          <p:nvPr/>
        </p:nvSpPr>
        <p:spPr>
          <a:xfrm>
            <a:off x="8227477" y="3585750"/>
            <a:ext cx="239400" cy="528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72"/>
          <p:cNvSpPr/>
          <p:nvPr/>
        </p:nvSpPr>
        <p:spPr>
          <a:xfrm>
            <a:off x="8130650" y="3192150"/>
            <a:ext cx="412200" cy="3936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single line</a:t>
            </a:r>
            <a:endParaRPr/>
          </a:p>
        </p:txBody>
      </p:sp>
      <p:sp>
        <p:nvSpPr>
          <p:cNvPr id="425" name="Google Shape;425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Both work:</a:t>
            </a:r>
            <a:endParaRPr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onsolas"/>
              <a:buChar char="○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</a:t>
            </a:r>
            <a:b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="textLongMessage"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onsolas"/>
              <a:buChar char="○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</a:t>
            </a:r>
            <a:b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="textPersonName"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Single line of text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</a:t>
            </a:r>
            <a:r>
              <a:rPr lang="en" b="1">
                <a:solidFill>
                  <a:srgbClr val="333333"/>
                </a:solidFill>
                <a:highlight>
                  <a:srgbClr val="FFFFFF"/>
                </a:highlight>
              </a:rPr>
              <a:t>Done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key advances focus to next View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26" name="Google Shape;426;p7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427" name="Google Shape;427;p73"/>
          <p:cNvSpPr txBox="1"/>
          <p:nvPr/>
        </p:nvSpPr>
        <p:spPr>
          <a:xfrm>
            <a:off x="7455150" y="3973775"/>
            <a:ext cx="17613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Done key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320" y="1389671"/>
            <a:ext cx="2645198" cy="2537431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73"/>
          <p:cNvSpPr/>
          <p:nvPr/>
        </p:nvSpPr>
        <p:spPr>
          <a:xfrm>
            <a:off x="8227477" y="3585750"/>
            <a:ext cx="239400" cy="528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73"/>
          <p:cNvSpPr/>
          <p:nvPr/>
        </p:nvSpPr>
        <p:spPr>
          <a:xfrm>
            <a:off x="8130650" y="3192150"/>
            <a:ext cx="412200" cy="3936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1753" y="1103659"/>
            <a:ext cx="2350024" cy="27868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7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phone number entry</a:t>
            </a:r>
            <a:endParaRPr/>
          </a:p>
        </p:txBody>
      </p:sp>
      <p:sp>
        <p:nvSpPr>
          <p:cNvPr id="437" name="Google Shape;437;p7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 ="phone"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Numeric keypad (numbers only)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</a:t>
            </a:r>
            <a:r>
              <a:rPr lang="en" b="1">
                <a:solidFill>
                  <a:srgbClr val="333333"/>
                </a:solidFill>
                <a:highlight>
                  <a:srgbClr val="FFFFFF"/>
                </a:highlight>
              </a:rPr>
              <a:t>Done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key advances focus to next View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38" name="Google Shape;438;p7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439" name="Google Shape;439;p74"/>
          <p:cNvSpPr txBox="1"/>
          <p:nvPr/>
        </p:nvSpPr>
        <p:spPr>
          <a:xfrm>
            <a:off x="7455150" y="3973775"/>
            <a:ext cx="17613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Done key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74"/>
          <p:cNvSpPr/>
          <p:nvPr/>
        </p:nvSpPr>
        <p:spPr>
          <a:xfrm>
            <a:off x="8227477" y="3585750"/>
            <a:ext cx="239400" cy="528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74"/>
          <p:cNvSpPr/>
          <p:nvPr/>
        </p:nvSpPr>
        <p:spPr>
          <a:xfrm>
            <a:off x="8130650" y="3192150"/>
            <a:ext cx="412200" cy="3936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text</a:t>
            </a:r>
            <a:endParaRPr/>
          </a:p>
        </p:txBody>
      </p:sp>
      <p:sp>
        <p:nvSpPr>
          <p:cNvPr id="447" name="Google Shape;447;p75"/>
          <p:cNvSpPr txBox="1">
            <a:spLocks noGrp="1"/>
          </p:cNvSpPr>
          <p:nvPr>
            <p:ph type="body" idx="1"/>
          </p:nvPr>
        </p:nvSpPr>
        <p:spPr>
          <a:xfrm>
            <a:off x="311700" y="1148150"/>
            <a:ext cx="8709300" cy="322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Get the EditText object for the EditText view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EditText simpleEditText =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findViewById(R.id.edit_simple);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Retrieve the CharSequence and convert it to a string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 strValue =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simpleEditText.getText().toString();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8" name="Google Shape;448;p7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6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types</a:t>
            </a:r>
            <a:endParaRPr/>
          </a:p>
        </p:txBody>
      </p:sp>
      <p:sp>
        <p:nvSpPr>
          <p:cNvPr id="454" name="Google Shape;454;p76"/>
          <p:cNvSpPr txBox="1">
            <a:spLocks noGrp="1"/>
          </p:cNvSpPr>
          <p:nvPr>
            <p:ph type="body" idx="1"/>
          </p:nvPr>
        </p:nvSpPr>
        <p:spPr>
          <a:xfrm>
            <a:off x="234200" y="1080925"/>
            <a:ext cx="7867200" cy="33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textCapCharacters</a:t>
            </a:r>
            <a:r>
              <a:rPr lang="en" sz="1800"/>
              <a:t>: Set to all capital letters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textCapSentences</a:t>
            </a:r>
            <a:r>
              <a:rPr lang="en" sz="1800"/>
              <a:t>: Start each sentence with a capital letter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textPassword</a:t>
            </a:r>
            <a:r>
              <a:rPr lang="en" sz="1800"/>
              <a:t>: Conceal an entered password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1800"/>
              <a:t>: Restrict text entry to numbers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textEmailAddress</a:t>
            </a:r>
            <a:r>
              <a:rPr lang="en" sz="1800"/>
              <a:t>: Show keyboard with </a:t>
            </a:r>
            <a:r>
              <a:rPr lang="en" sz="1800" b="1"/>
              <a:t>@</a:t>
            </a:r>
            <a:r>
              <a:rPr lang="en" sz="1800"/>
              <a:t> conveniently located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phone</a:t>
            </a:r>
            <a:r>
              <a:rPr lang="en" sz="1800"/>
              <a:t>: Show a numeric phone keypad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datetime</a:t>
            </a:r>
            <a:r>
              <a:rPr lang="en" sz="1800"/>
              <a:t>: Show a numeric keypad with a slash and colon for entering the date and time</a:t>
            </a:r>
            <a:endParaRPr sz="1800"/>
          </a:p>
        </p:txBody>
      </p:sp>
      <p:sp>
        <p:nvSpPr>
          <p:cNvPr id="455" name="Google Shape;455;p7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456" name="Google Shape;456;p7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input types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7"/>
          <p:cNvSpPr txBox="1">
            <a:spLocks noGrp="1"/>
          </p:cNvSpPr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Providing choices</a:t>
            </a:r>
            <a:endParaRPr/>
          </a:p>
        </p:txBody>
      </p:sp>
      <p:sp>
        <p:nvSpPr>
          <p:cNvPr id="462" name="Google Shape;462;p7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7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elements for providing choices</a:t>
            </a:r>
            <a:endParaRPr/>
          </a:p>
        </p:txBody>
      </p:sp>
      <p:sp>
        <p:nvSpPr>
          <p:cNvPr id="469" name="Google Shape;469;p7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5048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CheckBox</a:t>
            </a:r>
            <a:r>
              <a:rPr lang="en"/>
              <a:t> and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RadioButton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ToggleButton</a:t>
            </a:r>
            <a:r>
              <a:rPr lang="en"/>
              <a:t> and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Switch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Spinner</a:t>
            </a:r>
            <a:endParaRPr/>
          </a:p>
        </p:txBody>
      </p:sp>
      <p:sp>
        <p:nvSpPr>
          <p:cNvPr id="470" name="Google Shape;470;p7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471" name="Google Shape;471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52225" y="1072075"/>
            <a:ext cx="1362075" cy="1038225"/>
          </a:xfrm>
          <a:prstGeom prst="rect">
            <a:avLst/>
          </a:prstGeom>
          <a:noFill/>
          <a:ln w="9525" cap="flat" cmpd="sng">
            <a:solidFill>
              <a:srgbClr val="75757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2" name="Google Shape;472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89013" y="1062538"/>
            <a:ext cx="1885950" cy="1057275"/>
          </a:xfrm>
          <a:prstGeom prst="rect">
            <a:avLst/>
          </a:prstGeom>
          <a:noFill/>
          <a:ln w="9525" cap="flat" cmpd="sng">
            <a:solidFill>
              <a:srgbClr val="75757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3" name="Google Shape;473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52225" y="2216350"/>
            <a:ext cx="2352675" cy="742950"/>
          </a:xfrm>
          <a:prstGeom prst="rect">
            <a:avLst/>
          </a:prstGeom>
          <a:noFill/>
          <a:ln w="9525" cap="flat" cmpd="sng">
            <a:solidFill>
              <a:srgbClr val="75757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4" name="Google Shape;474;p7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62638" y="2850900"/>
            <a:ext cx="2295525" cy="742950"/>
          </a:xfrm>
          <a:prstGeom prst="rect">
            <a:avLst/>
          </a:prstGeom>
          <a:noFill/>
          <a:ln w="9525" cap="flat" cmpd="sng">
            <a:solidFill>
              <a:srgbClr val="75757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5" name="Google Shape;475;p7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283375" y="2930575"/>
            <a:ext cx="1800225" cy="1562100"/>
          </a:xfrm>
          <a:prstGeom prst="rect">
            <a:avLst/>
          </a:prstGeom>
          <a:noFill/>
          <a:ln w="9525" cap="flat" cmpd="sng">
            <a:solidFill>
              <a:srgbClr val="757575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CheckBox</a:t>
            </a:r>
            <a:endParaRPr/>
          </a:p>
        </p:txBody>
      </p:sp>
      <p:sp>
        <p:nvSpPr>
          <p:cNvPr id="481" name="Google Shape;481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7093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can select any number of choices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Char char="●"/>
            </a:pPr>
            <a:r>
              <a:rPr lang="en"/>
              <a:t>Checking one box does not uncheck another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Users expect checkboxes in a vertical list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Commonly used with a </a:t>
            </a:r>
            <a:r>
              <a:rPr lang="en" b="1"/>
              <a:t>Submit</a:t>
            </a:r>
            <a:r>
              <a:rPr lang="en"/>
              <a:t> button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Every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en"/>
              <a:t> is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/>
              <a:t> and can have </a:t>
            </a:r>
            <a:br>
              <a:rPr lang="en"/>
            </a:b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/>
              <a:t> handler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2" name="Google Shape;482;p7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483" name="Google Shape;48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870" y="2748000"/>
            <a:ext cx="2231425" cy="17008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RadioButton</a:t>
            </a:r>
            <a:endParaRPr/>
          </a:p>
        </p:txBody>
      </p:sp>
      <p:sp>
        <p:nvSpPr>
          <p:cNvPr id="489" name="Google Shape;489;p80"/>
          <p:cNvSpPr txBox="1">
            <a:spLocks noGrp="1"/>
          </p:cNvSpPr>
          <p:nvPr>
            <p:ph type="body" idx="1"/>
          </p:nvPr>
        </p:nvSpPr>
        <p:spPr>
          <a:xfrm>
            <a:off x="382725" y="905200"/>
            <a:ext cx="7281300" cy="357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Put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RadioButton</a:t>
            </a:r>
            <a:r>
              <a:rPr lang="en"/>
              <a:t> elements in a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RadioGroup</a:t>
            </a:r>
            <a:r>
              <a:rPr lang="en"/>
              <a:t> in a vertical list (horizontally if labels are short)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can select only one of the choices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Checking one unchecks all others in group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Each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RadioButton</a:t>
            </a:r>
            <a:r>
              <a:rPr lang="en"/>
              <a:t> can have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/>
              <a:t> </a:t>
            </a:r>
            <a:br>
              <a:rPr lang="en"/>
            </a:br>
            <a:r>
              <a:rPr lang="en"/>
              <a:t>handler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Commonly used with a </a:t>
            </a:r>
            <a:r>
              <a:rPr lang="en" b="1"/>
              <a:t>Submit</a:t>
            </a:r>
            <a:r>
              <a:rPr lang="en"/>
              <a:t> button</a:t>
            </a:r>
            <a:br>
              <a:rPr lang="en"/>
            </a:br>
            <a:r>
              <a:rPr lang="en"/>
              <a:t>for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RadioGroup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8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491" name="Google Shape;491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825" y="3031600"/>
            <a:ext cx="2291300" cy="1284550"/>
          </a:xfrm>
          <a:prstGeom prst="rect">
            <a:avLst/>
          </a:prstGeom>
          <a:noFill/>
          <a:ln w="9525" cap="flat" cmpd="sng">
            <a:solidFill>
              <a:srgbClr val="757575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Toggle buttons and switches</a:t>
            </a:r>
            <a:endParaRPr/>
          </a:p>
        </p:txBody>
      </p:sp>
      <p:sp>
        <p:nvSpPr>
          <p:cNvPr id="497" name="Google Shape;497;p81"/>
          <p:cNvSpPr txBox="1">
            <a:spLocks noGrp="1"/>
          </p:cNvSpPr>
          <p:nvPr>
            <p:ph type="body" idx="1"/>
          </p:nvPr>
        </p:nvSpPr>
        <p:spPr>
          <a:xfrm>
            <a:off x="311700" y="1021475"/>
            <a:ext cx="8709300" cy="35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can switch between on and off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android:onClick</a:t>
            </a:r>
            <a:r>
              <a:rPr lang="en"/>
              <a:t> for click handler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                             </a:t>
            </a:r>
            <a:br>
              <a:rPr lang="en"/>
            </a:br>
            <a:r>
              <a:rPr lang="en"/>
              <a:t>                                     Toggle buttons 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                              Switches 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8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499" name="Google Shape;49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513" y="2511100"/>
            <a:ext cx="23526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576" y="3332125"/>
            <a:ext cx="2400575" cy="77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558"/>
          <p:cNvSpPr txBox="1">
            <a:spLocks noGrp="1"/>
          </p:cNvSpPr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Spinners</a:t>
            </a:r>
          </a:p>
        </p:txBody>
      </p:sp>
      <p:sp>
        <p:nvSpPr>
          <p:cNvPr id="559" name="Shape 55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560" name="Shape 56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30</a:t>
            </a:fld>
            <a:endParaRPr lang="e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Spinners</a:t>
            </a:r>
          </a:p>
        </p:txBody>
      </p:sp>
      <p:sp>
        <p:nvSpPr>
          <p:cNvPr id="566" name="Shape 566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6829800" cy="3372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Quick way to select value from a set</a:t>
            </a:r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Drop-down list shows all values, </a:t>
            </a:r>
            <a:br>
              <a:rPr lang="en"/>
            </a:br>
            <a:r>
              <a:rPr lang="en"/>
              <a:t>user can select only one</a:t>
            </a:r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Spinners scroll automatically if necessary</a:t>
            </a:r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Spinner</a:t>
            </a:r>
            <a:r>
              <a:rPr lang="en"/>
              <a:t> class.</a:t>
            </a:r>
          </a:p>
        </p:txBody>
      </p:sp>
      <p:sp>
        <p:nvSpPr>
          <p:cNvPr id="567" name="Shape 56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31</a:t>
            </a:fld>
            <a:endParaRPr lang="en"/>
          </a:p>
        </p:txBody>
      </p:sp>
      <p:pic>
        <p:nvPicPr>
          <p:cNvPr id="568" name="Shape 5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0175" y="1391450"/>
            <a:ext cx="2182125" cy="1893475"/>
          </a:xfrm>
          <a:prstGeom prst="rect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Shape 57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Implementing a spinner</a:t>
            </a:r>
          </a:p>
        </p:txBody>
      </p:sp>
      <p:sp>
        <p:nvSpPr>
          <p:cNvPr id="574" name="Shape 57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775900" cy="3372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600"/>
              </a:spcBef>
              <a:buSzPts val="2400"/>
              <a:buAutoNum type="arabicPeriod"/>
            </a:pPr>
            <a:r>
              <a:rPr lang="en"/>
              <a:t>Create Spinner UI element in the XML layout</a:t>
            </a:r>
          </a:p>
          <a:p>
            <a:pPr marL="457200" lvl="0" indent="-381000" rtl="0">
              <a:spcBef>
                <a:spcPts val="600"/>
              </a:spcBef>
              <a:buSzPts val="2400"/>
              <a:buAutoNum type="arabicPeriod"/>
            </a:pPr>
            <a:r>
              <a:rPr lang="en"/>
              <a:t>Define spinner choices in an array</a:t>
            </a:r>
          </a:p>
          <a:p>
            <a:pPr marL="457200" lvl="0" indent="-381000" rtl="0">
              <a:spcBef>
                <a:spcPts val="600"/>
              </a:spcBef>
              <a:buSzPts val="2400"/>
              <a:buAutoNum type="arabicPeriod"/>
            </a:pPr>
            <a:r>
              <a:rPr lang="en"/>
              <a:t>Create Spinner and set </a:t>
            </a:r>
            <a:r>
              <a:rPr lang="en" u="sng">
                <a:solidFill>
                  <a:schemeClr val="hlink"/>
                </a:solidFill>
                <a:hlinkClick r:id="rId3"/>
              </a:rPr>
              <a:t>onItemSelectedListener</a:t>
            </a:r>
          </a:p>
          <a:p>
            <a:pPr marL="457200" lvl="0" indent="-381000" rtl="0">
              <a:spcBef>
                <a:spcPts val="600"/>
              </a:spcBef>
              <a:buSzPts val="2400"/>
              <a:buAutoNum type="arabicPeriod"/>
            </a:pPr>
            <a:r>
              <a:rPr lang="en"/>
              <a:t>Create an adapter with default spinner layouts</a:t>
            </a:r>
          </a:p>
          <a:p>
            <a:pPr marL="457200" lvl="0" indent="-381000" rtl="0">
              <a:spcBef>
                <a:spcPts val="600"/>
              </a:spcBef>
              <a:buSzPts val="2400"/>
              <a:buAutoNum type="arabicPeriod"/>
            </a:pPr>
            <a:r>
              <a:rPr lang="en"/>
              <a:t>Attach the adapter to the spinner</a:t>
            </a:r>
          </a:p>
          <a:p>
            <a:pPr marL="457200" lvl="0" indent="-381000" rtl="0">
              <a:spcBef>
                <a:spcPts val="600"/>
              </a:spcBef>
              <a:buSzPts val="2400"/>
              <a:buAutoNum type="arabicPeriod"/>
            </a:pPr>
            <a:r>
              <a:rPr lang="en"/>
              <a:t>Implement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onItemSelectedListener</a:t>
            </a:r>
            <a:r>
              <a:rPr lang="en"/>
              <a:t> method</a:t>
            </a:r>
          </a:p>
        </p:txBody>
      </p:sp>
      <p:sp>
        <p:nvSpPr>
          <p:cNvPr id="575" name="Shape 57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32</a:t>
            </a:fld>
            <a:endParaRPr lang="e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58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Create spinner XML</a:t>
            </a:r>
          </a:p>
        </p:txBody>
      </p:sp>
      <p:sp>
        <p:nvSpPr>
          <p:cNvPr id="581" name="Shape 581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6829800" cy="3372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In layout XML  file</a:t>
            </a:r>
          </a:p>
          <a:p>
            <a:pPr marL="0" lvl="0" indent="0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69850" rtl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&lt;Spinner</a:t>
            </a:r>
          </a:p>
          <a:p>
            <a:pPr marL="457200" lvl="0" indent="-69850" rtl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android:id="@+id/label_spinner"</a:t>
            </a:r>
          </a:p>
          <a:p>
            <a:pPr marL="457200" lvl="0" indent="-69850" rtl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android:layout_width="wrap_content"</a:t>
            </a:r>
          </a:p>
          <a:p>
            <a:pPr marL="457200" lvl="0" indent="-69850" rtl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android:layout_height="wrap_content"&gt;</a:t>
            </a:r>
          </a:p>
          <a:p>
            <a:pPr marL="457200" lvl="0" indent="-69850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&lt;/Spinner&gt;</a:t>
            </a:r>
          </a:p>
          <a:p>
            <a:pPr marL="0" lvl="0" indent="0" rtl="0">
              <a:spcBef>
                <a:spcPts val="600"/>
              </a:spcBef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Shape 58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33</a:t>
            </a:fld>
            <a:endParaRPr lang="e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Shape 58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Define array of spinner choices</a:t>
            </a:r>
          </a:p>
        </p:txBody>
      </p:sp>
      <p:sp>
        <p:nvSpPr>
          <p:cNvPr id="588" name="Shape 58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6829800" cy="3372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In arrays.xml resource file</a:t>
            </a:r>
          </a:p>
          <a:p>
            <a:pPr marL="0" lvl="0" indent="0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&lt;string-array name="labels_array"&gt;</a:t>
            </a:r>
          </a:p>
          <a:p>
            <a:pPr marL="0" lvl="0" indent="0" rtl="0">
              <a:spcBef>
                <a:spcPts val="0"/>
              </a:spcBef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&lt;item&gt;Home&lt;/item&gt;</a:t>
            </a:r>
          </a:p>
          <a:p>
            <a:pPr marL="0" lvl="0" indent="0" rtl="0">
              <a:spcBef>
                <a:spcPts val="0"/>
              </a:spcBef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&lt;item&gt;Work&lt;/item&gt;</a:t>
            </a:r>
          </a:p>
          <a:p>
            <a:pPr marL="0" lvl="0" indent="0" rtl="0">
              <a:spcBef>
                <a:spcPts val="0"/>
              </a:spcBef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&lt;item&gt;Mobile&lt;/item&gt;</a:t>
            </a:r>
          </a:p>
          <a:p>
            <a:pPr marL="0" lvl="0" indent="0" rtl="0">
              <a:spcBef>
                <a:spcPts val="0"/>
              </a:spcBef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&lt;item&gt;Other&lt;/item&gt;</a:t>
            </a:r>
          </a:p>
          <a:p>
            <a:pPr marL="0" lvl="0" indent="0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&lt;/string-array&gt;</a:t>
            </a:r>
          </a:p>
          <a:p>
            <a:pPr marL="0" lvl="0" indent="0" rtl="0">
              <a:spcBef>
                <a:spcPts val="600"/>
              </a:spcBef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Shape 58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34</a:t>
            </a:fld>
            <a:endParaRPr lang="e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59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Create spinner and attach listener </a:t>
            </a:r>
          </a:p>
        </p:txBody>
      </p:sp>
      <p:sp>
        <p:nvSpPr>
          <p:cNvPr id="595" name="Shape 59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709600" cy="3372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MainActivity extends AppCompatActivity </a:t>
            </a: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implements AdapterView.OnItemSelectedListener</a:t>
            </a:r>
          </a:p>
          <a:p>
            <a:pPr marL="0" lvl="0" indent="0" rtl="0">
              <a:spcBef>
                <a:spcPts val="0"/>
              </a:spcBef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// In onCreate()</a:t>
            </a:r>
          </a:p>
          <a:p>
            <a:pPr marL="0" lvl="0" indent="0" rtl="0">
              <a:spcBef>
                <a:spcPts val="1000"/>
              </a:spcBef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Spinner spinner = (Spinner) findViewById(R.id.label_spinner);</a:t>
            </a:r>
          </a:p>
          <a:p>
            <a:pPr marL="0" lvl="0" indent="0" rtl="0">
              <a:spcBef>
                <a:spcPts val="0"/>
              </a:spcBef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if (spinner != null) {</a:t>
            </a:r>
          </a:p>
          <a:p>
            <a:pPr marL="0" lvl="0" indent="0" rtl="0">
              <a:spcBef>
                <a:spcPts val="0"/>
              </a:spcBef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spinner.setOnItemSelectedListener(</a:t>
            </a:r>
            <a:r>
              <a:rPr lang="en" sz="200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); </a:t>
            </a:r>
          </a:p>
          <a:p>
            <a:pPr marL="0" lvl="0" indent="-69850" rtl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596" name="Shape 59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35</a:t>
            </a:fld>
            <a:endParaRPr lang="e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60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What is an adapter?</a:t>
            </a:r>
          </a:p>
        </p:txBody>
      </p:sp>
      <p:sp>
        <p:nvSpPr>
          <p:cNvPr id="602" name="Shape 602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709600" cy="2086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An adapter is like a bridge, or intermediary, between two incompatible interfaces</a:t>
            </a:r>
          </a:p>
          <a:p>
            <a:pPr marL="0" lvl="0" indent="-69850" rtl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example, a memory card reader acts as an adapter between the memory card and a laptop</a:t>
            </a:r>
          </a:p>
        </p:txBody>
      </p:sp>
      <p:sp>
        <p:nvSpPr>
          <p:cNvPr id="603" name="Shape 60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36</a:t>
            </a:fld>
            <a:endParaRPr lang="en"/>
          </a:p>
        </p:txBody>
      </p:sp>
      <p:sp>
        <p:nvSpPr>
          <p:cNvPr id="604" name="Shape 604"/>
          <p:cNvSpPr/>
          <p:nvPr/>
        </p:nvSpPr>
        <p:spPr>
          <a:xfrm>
            <a:off x="1401900" y="3501200"/>
            <a:ext cx="1303200" cy="100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"/>
              <a:t>Memory Card</a:t>
            </a:r>
          </a:p>
          <a:p>
            <a:pPr marL="0" lvl="0" indent="0">
              <a:spcBef>
                <a:spcPts val="0"/>
              </a:spcBef>
              <a:buNone/>
            </a:pP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"/>
              <a:t>(Array of Choices)</a:t>
            </a:r>
          </a:p>
        </p:txBody>
      </p:sp>
      <p:sp>
        <p:nvSpPr>
          <p:cNvPr id="605" name="Shape 605"/>
          <p:cNvSpPr/>
          <p:nvPr/>
        </p:nvSpPr>
        <p:spPr>
          <a:xfrm>
            <a:off x="3209800" y="3495825"/>
            <a:ext cx="1035600" cy="100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"/>
              <a:t>Card Reader</a:t>
            </a:r>
          </a:p>
          <a:p>
            <a:pPr marL="0" lvl="0" indent="0">
              <a:spcBef>
                <a:spcPts val="0"/>
              </a:spcBef>
              <a:buNone/>
            </a:pP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"/>
              <a:t>(Adapter)</a:t>
            </a:r>
          </a:p>
        </p:txBody>
      </p:sp>
      <p:sp>
        <p:nvSpPr>
          <p:cNvPr id="606" name="Shape 606"/>
          <p:cNvSpPr/>
          <p:nvPr/>
        </p:nvSpPr>
        <p:spPr>
          <a:xfrm>
            <a:off x="4755775" y="3495825"/>
            <a:ext cx="1521000" cy="100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"/>
              <a:t>Laptop Computer</a:t>
            </a:r>
          </a:p>
          <a:p>
            <a:pPr marL="0" lvl="0" indent="0">
              <a:spcBef>
                <a:spcPts val="0"/>
              </a:spcBef>
              <a:buNone/>
            </a:pP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"/>
              <a:t>(Spinner View)</a:t>
            </a:r>
          </a:p>
        </p:txBody>
      </p:sp>
      <p:sp>
        <p:nvSpPr>
          <p:cNvPr id="607" name="Shape 607"/>
          <p:cNvSpPr/>
          <p:nvPr/>
        </p:nvSpPr>
        <p:spPr>
          <a:xfrm>
            <a:off x="2705100" y="3890325"/>
            <a:ext cx="497700" cy="21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608" name="Shape 608"/>
          <p:cNvSpPr/>
          <p:nvPr/>
        </p:nvSpPr>
        <p:spPr>
          <a:xfrm>
            <a:off x="4245388" y="3890325"/>
            <a:ext cx="497700" cy="21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609" name="Shape 609"/>
          <p:cNvSpPr/>
          <p:nvPr/>
        </p:nvSpPr>
        <p:spPr>
          <a:xfrm>
            <a:off x="3636925" y="3298725"/>
            <a:ext cx="1035600" cy="27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Layout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61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Create adapter</a:t>
            </a:r>
          </a:p>
        </p:txBody>
      </p:sp>
      <p:sp>
        <p:nvSpPr>
          <p:cNvPr id="615" name="Shape 615"/>
          <p:cNvSpPr txBox="1">
            <a:spLocks noGrp="1"/>
          </p:cNvSpPr>
          <p:nvPr>
            <p:ph type="body" idx="1"/>
          </p:nvPr>
        </p:nvSpPr>
        <p:spPr>
          <a:xfrm>
            <a:off x="276475" y="1055475"/>
            <a:ext cx="8709600" cy="34953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Create ArrayAdapter using string array</a:t>
            </a:r>
            <a:br>
              <a:rPr lang="en"/>
            </a:br>
            <a:r>
              <a:rPr lang="en"/>
              <a:t>and default spinner layout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ArrayAdapter&lt;CharSequence&gt; adapter =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ArrayAdapter.createFromResource(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this, R.array.labels_array,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Layout for each item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android.R.layout.simple_spinner_item); </a:t>
            </a:r>
          </a:p>
        </p:txBody>
      </p:sp>
      <p:sp>
        <p:nvSpPr>
          <p:cNvPr id="616" name="Shape 61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37</a:t>
            </a:fld>
            <a:endParaRPr lang="e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Shape 62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Attach the adapter to the spinner</a:t>
            </a:r>
          </a:p>
        </p:txBody>
      </p:sp>
      <p:sp>
        <p:nvSpPr>
          <p:cNvPr id="622" name="Shape 622"/>
          <p:cNvSpPr txBox="1">
            <a:spLocks noGrp="1"/>
          </p:cNvSpPr>
          <p:nvPr>
            <p:ph type="body" idx="1"/>
          </p:nvPr>
        </p:nvSpPr>
        <p:spPr>
          <a:xfrm>
            <a:off x="276475" y="1055475"/>
            <a:ext cx="8709600" cy="34953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SzPts val="2400"/>
              <a:buChar char="●"/>
            </a:pPr>
            <a:r>
              <a:rPr lang="en"/>
              <a:t>Specify the layout for the drop down menu</a:t>
            </a:r>
          </a:p>
          <a:p>
            <a:pPr marL="457200" lvl="0" indent="0" rtl="0">
              <a:spcBef>
                <a:spcPts val="1000"/>
              </a:spcBef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adapter.setDropDownViewResource(</a:t>
            </a:r>
          </a:p>
          <a:p>
            <a:pPr marL="457200" lvl="0" indent="0" rtl="0">
              <a:spcBef>
                <a:spcPts val="0"/>
              </a:spcBef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android.R.layout.simple_spinner_dropdown_item);</a:t>
            </a:r>
          </a:p>
          <a:p>
            <a:pPr marL="457200" lvl="0" indent="-381000" rtl="0">
              <a:spcBef>
                <a:spcPts val="2000"/>
              </a:spcBef>
              <a:buSzPts val="2400"/>
              <a:buChar char="●"/>
            </a:pPr>
            <a:r>
              <a:rPr lang="en"/>
              <a:t>Attach the adapter to the spinner</a:t>
            </a:r>
          </a:p>
          <a:p>
            <a:pPr marL="457200" lvl="0" indent="0" rtl="0">
              <a:spcBef>
                <a:spcPts val="1000"/>
              </a:spcBef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spinner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.setAdapter(adapter);</a:t>
            </a:r>
          </a:p>
          <a:p>
            <a:pPr marL="0" lvl="0" indent="0" rtl="0">
              <a:spcBef>
                <a:spcPts val="600"/>
              </a:spcBef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Shape 62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38</a:t>
            </a:fld>
            <a:endParaRPr lang="e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Shape 62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/>
              <a:t>Implement onItemSelectedListener</a:t>
            </a:r>
          </a:p>
        </p:txBody>
      </p:sp>
      <p:sp>
        <p:nvSpPr>
          <p:cNvPr id="629" name="Shape 629"/>
          <p:cNvSpPr txBox="1">
            <a:spLocks noGrp="1"/>
          </p:cNvSpPr>
          <p:nvPr>
            <p:ph type="body" idx="1"/>
          </p:nvPr>
        </p:nvSpPr>
        <p:spPr>
          <a:xfrm>
            <a:off x="56350" y="1076275"/>
            <a:ext cx="8964900" cy="3372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MainActivity extends AppCompatActivity </a:t>
            </a: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implements AdapterView.OnItemSelectedListener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onItemSelected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(AdapterView&lt;?&gt; adapterView, 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View view, int pos, long id) {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spinner_item = 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adapterView.getItemAtPosition(pos).toString();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// Do something here with the item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onNothingSelected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(AdapterView&lt;?&gt; adapterView) {</a:t>
            </a:r>
          </a:p>
          <a:p>
            <a:pPr marL="45720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Do something</a:t>
            </a:r>
          </a:p>
          <a:p>
            <a:pPr marL="457200" lvl="0" indent="-69850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630" name="Shape 63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39</a:t>
            </a:fld>
            <a:endParaRPr lang="e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506" name="Google Shape;506;p82"/>
          <p:cNvSpPr txBox="1">
            <a:spLocks noGrp="1"/>
          </p:cNvSpPr>
          <p:nvPr>
            <p:ph type="body" idx="1"/>
          </p:nvPr>
        </p:nvSpPr>
        <p:spPr>
          <a:xfrm>
            <a:off x="411625" y="1051425"/>
            <a:ext cx="7905600" cy="36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Input Controls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Radio Buttons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Specifying the Input Method Type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Handling Keyboard Input</a:t>
            </a:r>
            <a:r>
              <a:rPr lang="en"/>
              <a:t>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Text Fields</a:t>
            </a:r>
            <a:r>
              <a:rPr lang="en"/>
              <a:t>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8"/>
              </a:rPr>
              <a:t>Spinners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07" name="Google Shape;507;p8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13" name="Google Shape;513;p8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514" name="Google Shape;514;p83"/>
          <p:cNvSpPr txBox="1"/>
          <p:nvPr/>
        </p:nvSpPr>
        <p:spPr>
          <a:xfrm>
            <a:off x="311700" y="2063725"/>
            <a:ext cx="8520600" cy="1941300"/>
          </a:xfrm>
          <a:prstGeom prst="rect">
            <a:avLst/>
          </a:prstGeom>
          <a:noFill/>
          <a:ln w="38100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4.2 Input controls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4.2 Input controls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8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20" name="Google Shape;520;p8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8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522" name="Google Shape;522;p8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1180</Words>
  <Application>Microsoft Office PowerPoint</Application>
  <PresentationFormat>On-screen Show (16:9)</PresentationFormat>
  <Paragraphs>279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Open Sans</vt:lpstr>
      <vt:lpstr>Consolas</vt:lpstr>
      <vt:lpstr>Roboto</vt:lpstr>
      <vt:lpstr>GDT master</vt:lpstr>
      <vt:lpstr>GDT master</vt:lpstr>
      <vt:lpstr>GDT master</vt:lpstr>
      <vt:lpstr>GDT master</vt:lpstr>
      <vt:lpstr>User Interaction </vt:lpstr>
      <vt:lpstr>4.2 Input Controls</vt:lpstr>
      <vt:lpstr>Contents</vt:lpstr>
      <vt:lpstr>Overview of input Controls</vt:lpstr>
      <vt:lpstr>Accepting user input</vt:lpstr>
      <vt:lpstr>Examples of input controls</vt:lpstr>
      <vt:lpstr>How input controls work</vt:lpstr>
      <vt:lpstr>View is base class for input controls</vt:lpstr>
      <vt:lpstr>View focus</vt:lpstr>
      <vt:lpstr>Focus</vt:lpstr>
      <vt:lpstr>Clickable versus focusable</vt:lpstr>
      <vt:lpstr>Which View gets focus next?</vt:lpstr>
      <vt:lpstr>Guiding users</vt:lpstr>
      <vt:lpstr>Guiding focus</vt:lpstr>
      <vt:lpstr>Set focus explicitly</vt:lpstr>
      <vt:lpstr>Find the view with focus</vt:lpstr>
      <vt:lpstr>  Freeform text and numbers</vt:lpstr>
      <vt:lpstr>EditText for multiple lines of text</vt:lpstr>
      <vt:lpstr>Customize with inputType</vt:lpstr>
      <vt:lpstr>EditText for message</vt:lpstr>
      <vt:lpstr>EditText for single line</vt:lpstr>
      <vt:lpstr>EditText for phone number entry</vt:lpstr>
      <vt:lpstr>Getting text</vt:lpstr>
      <vt:lpstr>Input types</vt:lpstr>
      <vt:lpstr>Providing choices</vt:lpstr>
      <vt:lpstr>UI elements for providing choices</vt:lpstr>
      <vt:lpstr>CheckBox</vt:lpstr>
      <vt:lpstr>RadioButton</vt:lpstr>
      <vt:lpstr>Toggle buttons and switches</vt:lpstr>
      <vt:lpstr>Spinners</vt:lpstr>
      <vt:lpstr>Spinners</vt:lpstr>
      <vt:lpstr>Implementing a spinner</vt:lpstr>
      <vt:lpstr>Create spinner XML</vt:lpstr>
      <vt:lpstr>Define array of spinner choices</vt:lpstr>
      <vt:lpstr>Create spinner and attach listener </vt:lpstr>
      <vt:lpstr>What is an adapter?</vt:lpstr>
      <vt:lpstr>Create adapter</vt:lpstr>
      <vt:lpstr>Attach the adapter to the spinner</vt:lpstr>
      <vt:lpstr>Implement onItemSelectedListener</vt:lpstr>
      <vt:lpstr>Learn more</vt:lpstr>
      <vt:lpstr>What's Next?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Interaction </dc:title>
  <cp:lastModifiedBy>Bilal Said</cp:lastModifiedBy>
  <cp:revision>6</cp:revision>
  <dcterms:modified xsi:type="dcterms:W3CDTF">2020-05-08T19:13:43Z</dcterms:modified>
</cp:coreProperties>
</file>