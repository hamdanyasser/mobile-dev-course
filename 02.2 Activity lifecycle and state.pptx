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3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4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theme+xml" PartName="/ppt/theme/theme4.xml"/>
  <Override ContentType="application/vnd.openxmlformats-officedocument.theme+xml" PartName="/ppt/theme/theme5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embedTrueTypeFonts="1" strictFirstAndLastChars="0" saveSubsetFonts="1">
  <p:sldMasterIdLst>
    <p:sldMasterId id="2147483696" r:id="rId3"/>
    <p:sldMasterId id="2147483697" r:id="rId4"/>
    <p:sldMasterId id="2147483698" r:id="rId5"/>
    <p:sldMasterId id="2147483699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y="5143500" cx="9144000"/>
  <p:notesSz cx="6858000" cy="9144000"/>
  <p:embeddedFontLst>
    <p:embeddedFont>
      <p:font typeface="Roboto"/>
      <p:regular r:id="rId48"/>
      <p:bold r:id="rId49"/>
      <p:italic r:id="rId50"/>
      <p:boldItalic r:id="rId51"/>
    </p:embeddedFont>
    <p:embeddedFont>
      <p:font typeface="Open Sans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5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9" Type="http://schemas.openxmlformats.org/officeDocument/2006/relationships/slide" Target="slides/slide2.xml"/><Relationship Id="rId48" Type="http://schemas.openxmlformats.org/officeDocument/2006/relationships/font" Target="fonts/Roboto-regular.fntdata"/><Relationship Id="rId47" Type="http://schemas.openxmlformats.org/officeDocument/2006/relationships/slide" Target="slides/slide40.xml"/><Relationship Id="rId49" Type="http://schemas.openxmlformats.org/officeDocument/2006/relationships/font" Target="fonts/Roboto-bold.fntdata"/><Relationship Id="rId5" Type="http://schemas.openxmlformats.org/officeDocument/2006/relationships/slideMaster" Target="slideMasters/slideMaster3.xml"/><Relationship Id="rId6" Type="http://schemas.openxmlformats.org/officeDocument/2006/relationships/slideMaster" Target="slideMasters/slideMaster4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font" Target="fonts/Roboto-boldItalic.fntdata"/><Relationship Id="rId50" Type="http://schemas.openxmlformats.org/officeDocument/2006/relationships/font" Target="fonts/Roboto-italic.fntdata"/><Relationship Id="rId53" Type="http://schemas.openxmlformats.org/officeDocument/2006/relationships/font" Target="fonts/OpenSans-bold.fntdata"/><Relationship Id="rId52" Type="http://schemas.openxmlformats.org/officeDocument/2006/relationships/font" Target="fonts/OpenSans-regular.fntdata"/><Relationship Id="rId11" Type="http://schemas.openxmlformats.org/officeDocument/2006/relationships/slide" Target="slides/slide4.xml"/><Relationship Id="rId55" Type="http://schemas.openxmlformats.org/officeDocument/2006/relationships/font" Target="fonts/OpenSans-boldItalic.fntdata"/><Relationship Id="rId10" Type="http://schemas.openxmlformats.org/officeDocument/2006/relationships/slide" Target="slides/slide3.xml"/><Relationship Id="rId54" Type="http://schemas.openxmlformats.org/officeDocument/2006/relationships/font" Target="fonts/OpenSans-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116d7d9d49_3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116d7d9d49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177e483ac7_0_1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177e483ac7_0_1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15afc3a2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15afc3a2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177e483ac7_0_2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177e483ac7_0_2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1834f0c84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1834f0c84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177e483ac7_0_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177e483ac7_0_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1ffb7ad2a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9" name="Google Shape;319;g31ffb7ad2a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g116e4ee7f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5" name="Google Shape;325;g116e4ee7f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77e483ac7_0_2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77e483ac7_0_2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177e483ac7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4" name="Google Shape;344;g177e483ac7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177e483ac7_0_3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177e483ac7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834f0c84e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834f0c84e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177e483ac7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177e483ac7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1834f0c84e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1834f0c84e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177e483ac7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9" name="Google Shape;379;g177e483ac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g1834f0c84e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6" name="Google Shape;386;g1834f0c84e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177e483ac7_0_3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3" name="Google Shape;393;g177e483ac7_0_3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1834f0c84e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1834f0c84e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177e483ac7_0_3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177e483ac7_0_3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1834f0c84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1834f0c84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177e483ac7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1" name="Google Shape;421;g177e483ac7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1834f0c84e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1834f0c84e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77e483ac7_0_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77e483ac7_0_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1834f0c84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2" name="Google Shape;442;g1834f0c84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15af94df2c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9" name="Google Shape;449;g15af94df2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116e4ee7f0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116e4ee7f0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g194fd1ef26_1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2" name="Google Shape;462;g194fd1ef26_1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1834f0c84e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1834f0c84e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g31ffb7ad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9" name="Google Shape;479;g31ffb7ad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1834f0c84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1834f0c84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163cae53d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163cae53d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g177e483ac7_0_3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9" name="Google Shape;499;g177e483ac7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4" name="Shape 5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5" name="Google Shape;505;g116e4ee807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6" name="Google Shape;506;g116e4ee807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1" name="Shape 5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Google Shape;512;g15af94df2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3" name="Google Shape;513;g15af94df2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g177e483ac7_0_3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0" name="Google Shape;520;g177e483ac7_0_3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25" name="Shape 5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g177e483ac7_0_3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7" name="Google Shape;527;g177e483ac7_0_3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g177e483a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4" name="Google Shape;534;g177e483a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g177e483ac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1" name="Google Shape;541;g177e483ac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g177e483ac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8" name="Google Shape;548;g177e483ac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Relationship Id="rId3" Type="http://schemas.openxmlformats.org/officeDocument/2006/relationships/image" Target="../media/image1.png"/><Relationship Id="rId4" Type="http://schemas.openxmlformats.org/officeDocument/2006/relationships/hyperlink" Target="https://creativecommons.org/licenses/by/4.0/" TargetMode="External"/><Relationship Id="rId5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5.jp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hyperlink" Target="http://creativecommons.org/licenses/by-nc/4.0/" TargetMode="Externa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jpg"/><Relationship Id="rId3" Type="http://schemas.openxmlformats.org/officeDocument/2006/relationships/image" Target="../media/image7.png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0.jpg"/><Relationship Id="rId3" Type="http://schemas.openxmlformats.org/officeDocument/2006/relationships/image" Target="../media/image9.png"/><Relationship Id="rId4" Type="http://schemas.openxmlformats.org/officeDocument/2006/relationships/image" Target="../media/image11.png"/><Relationship Id="rId5" Type="http://schemas.openxmlformats.org/officeDocument/2006/relationships/hyperlink" Target="http://creativecommons.org/licenses/by-nc/4.0/" TargetMode="Externa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" name="Google Shape;31;p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5" name="Google Shape;35;p6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9" name="Google Shape;39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0" name="Google Shape;40;p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3" name="Google Shape;43;p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" name="Google Shape;47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8" name="Google Shape;48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52" name="Google Shape;52;p1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58" name="Google Shape;5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59" name="Google Shape;5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0" name="Google Shape;60;p12"/>
          <p:cNvSpPr txBox="1"/>
          <p:nvPr/>
        </p:nvSpPr>
        <p:spPr>
          <a:xfrm>
            <a:off x="2248325" y="4761375"/>
            <a:ext cx="23370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" name="Google Shape;62;p12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3" name="Google Shape;63;p12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4" name="Google Shape;64;p12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5" name="Google Shape;65;p12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6" name="Google Shape;66;p12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4407225" y="46636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and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69" name="Google Shape;69;p1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12725" y="4788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4" name="Google Shape;84;p15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5" name="Google Shape;85;p1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6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6" name="Google Shape;96;p18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7" name="Google Shape;97;p1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18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1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2" name="Google Shape;102;p19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7" name="Google Shape;107;p2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1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0" name="Google Shape;110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2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2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14" name="Google Shape;114;p2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15" name="Google Shape;115;p2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3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19" name="Google Shape;119;p2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22" name="Google Shape;122;p24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25" name="Google Shape;12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126" name="Google Shape;126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5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8" name="Google Shape;128;p2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9" name="Google Shape;129;p25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0" name="Google Shape;130;p25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2" name="Google Shape;132;p25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3" name="Google Shape;133;p25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134" name="Google Shape;13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25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6" name="Google Shape;136;p25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Create your first Android app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8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48" name="Google Shape;148;p28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49" name="Google Shape;149;p2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9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2" name="Google Shape;152;p2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0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157" name="Google Shape;157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1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0" name="Google Shape;160;p31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61" name="Google Shape;161;p3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2" name="Google Shape;162;p31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3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2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70" name="Google Shape;170;p3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71" name="Google Shape;171;p3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3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5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3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8" name="Google Shape;178;p3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79" name="Google Shape;179;p3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0" name="Google Shape;180;p3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183" name="Google Shape;183;p3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7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86" name="Google Shape;186;p37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87" name="Google Shape;187;p3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189" name="Google Shape;189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1" name="Google Shape;191;p38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2" name="Google Shape;192;p38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93" name="Google Shape;193;p38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94" name="Google Shape;194;p38"/>
          <p:cNvSpPr txBox="1"/>
          <p:nvPr>
            <p:ph idx="3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descr="footer.png" id="195" name="Google Shape;195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38"/>
          <p:cNvSpPr txBox="1"/>
          <p:nvPr>
            <p:ph idx="4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97" name="Google Shape;197;p38"/>
          <p:cNvSpPr txBox="1"/>
          <p:nvPr/>
        </p:nvSpPr>
        <p:spPr>
          <a:xfrm>
            <a:off x="23816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bg>
      <p:bgPr>
        <a:solidFill>
          <a:srgbClr val="4CAF50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1"/>
          <p:cNvSpPr txBox="1"/>
          <p:nvPr>
            <p:ph type="ctrTitle"/>
          </p:nvPr>
        </p:nvSpPr>
        <p:spPr>
          <a:xfrm>
            <a:off x="311708" y="10067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5200"/>
              <a:buNone/>
              <a:defRPr b="1" sz="5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12" name="Google Shape;212;p41"/>
          <p:cNvSpPr txBox="1"/>
          <p:nvPr>
            <p:ph idx="1" type="subTitle"/>
          </p:nvPr>
        </p:nvSpPr>
        <p:spPr>
          <a:xfrm>
            <a:off x="311700" y="3096343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800"/>
              <a:buNone/>
              <a:defRPr sz="28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13" name="Google Shape;213;p4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bg>
      <p:bgPr>
        <a:solidFill>
          <a:srgbClr val="4CAF50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2"/>
          <p:cNvSpPr txBox="1"/>
          <p:nvPr>
            <p:ph type="title"/>
          </p:nvPr>
        </p:nvSpPr>
        <p:spPr>
          <a:xfrm>
            <a:off x="311700" y="20746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 sz="36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6" name="Google Shape;216;p4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bg>
      <p:bgPr>
        <a:solidFill>
          <a:srgbClr val="FFFFFF"/>
        </a:solidFill>
      </p:bgPr>
    </p:bg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43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4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0" name="Google Shape;220;p4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AutoNum type="arabicPeriod"/>
              <a:defRPr/>
            </a:lvl1pPr>
            <a:lvl2pPr indent="-355600" lvl="1" marL="91440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000"/>
              <a:buAutoNum type="alphaLcPeriod"/>
              <a:defRPr sz="2000"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AutoNum type="arabicPeriod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44"/>
          <p:cNvSpPr txBox="1"/>
          <p:nvPr>
            <p:ph idx="1" type="body"/>
          </p:nvPr>
        </p:nvSpPr>
        <p:spPr>
          <a:xfrm>
            <a:off x="3117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4" name="Google Shape;224;p44"/>
          <p:cNvSpPr txBox="1"/>
          <p:nvPr>
            <p:ph idx="2" type="body"/>
          </p:nvPr>
        </p:nvSpPr>
        <p:spPr>
          <a:xfrm>
            <a:off x="4832400" y="119029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5" name="Google Shape;225;p4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6" name="Google Shape;226;p44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4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4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30" name="Google Shape;230;p45"/>
          <p:cNvSpPr/>
          <p:nvPr/>
        </p:nvSpPr>
        <p:spPr>
          <a:xfrm>
            <a:off x="-11200" y="-37825"/>
            <a:ext cx="9155100" cy="1018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45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3600"/>
              <a:buNone/>
              <a:defRPr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6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34" name="Google Shape;234;p46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5" name="Google Shape;235;p4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4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238" name="Google Shape;238;p4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8"/>
          <p:cNvSpPr/>
          <p:nvPr/>
        </p:nvSpPr>
        <p:spPr>
          <a:xfrm>
            <a:off x="4572000" y="-125"/>
            <a:ext cx="4572000" cy="46605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4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42" name="Google Shape;242;p48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43" name="Google Shape;243;p48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81000" lvl="0" marL="457200" rtl="0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4" name="Google Shape;244;p4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49"/>
          <p:cNvSpPr txBox="1"/>
          <p:nvPr>
            <p:ph idx="1" type="body"/>
          </p:nvPr>
        </p:nvSpPr>
        <p:spPr>
          <a:xfrm>
            <a:off x="311700" y="3918598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</a:lstStyle>
          <a:p/>
        </p:txBody>
      </p:sp>
      <p:sp>
        <p:nvSpPr>
          <p:cNvPr id="247" name="Google Shape;247;p4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50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50" name="Google Shape;250;p50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 algn="ctr">
              <a:spcBef>
                <a:spcPts val="0"/>
              </a:spcBef>
              <a:spcAft>
                <a:spcPts val="0"/>
              </a:spcAft>
              <a:buSzPts val="2400"/>
              <a:buChar char="●"/>
              <a:defRPr/>
            </a:lvl1pPr>
            <a:lvl2pPr indent="-342900" lvl="1" marL="914400" rtl="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51" name="Google Shape;251;p5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ndroid-Developer-Cover.jpg" id="253" name="Google Shape;253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footer.png" id="254" name="Google Shape;254;p5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1"/>
          <p:cNvSpPr txBox="1"/>
          <p:nvPr/>
        </p:nvSpPr>
        <p:spPr>
          <a:xfrm>
            <a:off x="2381682" y="4761375"/>
            <a:ext cx="22191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56" name="Google Shape;256;p5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7" name="Google Shape;257;p51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8" name="Google Shape;258;p51"/>
          <p:cNvSpPr txBox="1"/>
          <p:nvPr>
            <p:ph type="title"/>
          </p:nvPr>
        </p:nvSpPr>
        <p:spPr>
          <a:xfrm>
            <a:off x="265500" y="1928011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4200"/>
              <a:buNone/>
              <a:defRPr sz="4200">
                <a:solidFill>
                  <a:srgbClr val="FAFAFA"/>
                </a:solidFill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59" name="Google Shape;259;p51"/>
          <p:cNvSpPr txBox="1"/>
          <p:nvPr>
            <p:ph idx="1" type="subTitle"/>
          </p:nvPr>
        </p:nvSpPr>
        <p:spPr>
          <a:xfrm>
            <a:off x="265500" y="3497911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AFAFA"/>
              </a:buClr>
              <a:buSzPts val="2100"/>
              <a:buNone/>
              <a:defRPr sz="2100">
                <a:solidFill>
                  <a:srgbClr val="FAFAFA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60" name="Google Shape;260;p51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1" name="Google Shape;261;p51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>
                <a:solidFill>
                  <a:srgbClr val="FAFAFA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pic>
        <p:nvPicPr>
          <p:cNvPr id="262" name="Google Shape;262;p5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833525" y="4777350"/>
            <a:ext cx="908100" cy="317725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51"/>
          <p:cNvSpPr txBox="1"/>
          <p:nvPr/>
        </p:nvSpPr>
        <p:spPr>
          <a:xfrm>
            <a:off x="56108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900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Creative Commons Attribution-NonCommercial 4.0 International License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64" name="Google Shape;264;p51"/>
          <p:cNvSpPr txBox="1"/>
          <p:nvPr/>
        </p:nvSpPr>
        <p:spPr>
          <a:xfrm>
            <a:off x="4407225" y="4663950"/>
            <a:ext cx="1150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Introduction to Android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 1">
  <p:cSld name="BLANK_1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5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8.xml"/><Relationship Id="rId10" Type="http://schemas.openxmlformats.org/officeDocument/2006/relationships/slideLayout" Target="../slideLayouts/slideLayout7.xml"/><Relationship Id="rId13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9.xml"/><Relationship Id="rId1" Type="http://schemas.openxmlformats.org/officeDocument/2006/relationships/image" Target="../media/image1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6" Type="http://schemas.openxmlformats.org/officeDocument/2006/relationships/theme" Target="../theme/theme5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1.xml"/><Relationship Id="rId1" Type="http://schemas.openxmlformats.org/officeDocument/2006/relationships/image" Target="../media/image4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5" Type="http://schemas.openxmlformats.org/officeDocument/2006/relationships/slideLayout" Target="../slideLayouts/slideLayout24.xml"/><Relationship Id="rId14" Type="http://schemas.openxmlformats.org/officeDocument/2006/relationships/slideLayout" Target="../slideLayouts/slideLayout23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_rels/slideMaster3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33.xml"/><Relationship Id="rId13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35.xml"/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/Relationships>
</file>

<file path=ppt/slideMasters/_rels/slideMaster4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5.xml"/><Relationship Id="rId1" Type="http://schemas.openxmlformats.org/officeDocument/2006/relationships/image" Target="../media/image9.png"/><Relationship Id="rId2" Type="http://schemas.openxmlformats.org/officeDocument/2006/relationships/hyperlink" Target="https://creativecommons.org/licenses/by/4.0/" TargetMode="External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Relationship Id="rId15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47.xml"/><Relationship Id="rId16" Type="http://schemas.openxmlformats.org/officeDocument/2006/relationships/theme" Target="../theme/theme4.xml"/><Relationship Id="rId5" Type="http://schemas.openxmlformats.org/officeDocument/2006/relationships/slideLayout" Target="../slideLayouts/slideLayout38.xml"/><Relationship Id="rId6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0.xml"/><Relationship Id="rId8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6" name="Google Shape;6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Google Shape;7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" name="Google Shape;10;p1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1"/>
          <p:cNvSpPr txBox="1"/>
          <p:nvPr/>
        </p:nvSpPr>
        <p:spPr>
          <a:xfrm>
            <a:off x="2299325" y="4761375"/>
            <a:ext cx="23169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2" name="Google Shape;12;p1"/>
          <p:cNvSpPr txBox="1"/>
          <p:nvPr/>
        </p:nvSpPr>
        <p:spPr>
          <a:xfrm>
            <a:off x="5694725" y="462637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" name="Google Shape;13;p1"/>
          <p:cNvSpPr txBox="1"/>
          <p:nvPr/>
        </p:nvSpPr>
        <p:spPr>
          <a:xfrm>
            <a:off x="4407225" y="4663650"/>
            <a:ext cx="12876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and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4" name="Google Shape;14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17900" y="4772575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4"/>
    <p:sldLayoutId id="2147483649" r:id="rId5"/>
    <p:sldLayoutId id="2147483650" r:id="rId6"/>
    <p:sldLayoutId id="2147483651" r:id="rId7"/>
    <p:sldLayoutId id="2147483652" r:id="rId8"/>
    <p:sldLayoutId id="2147483653" r:id="rId9"/>
    <p:sldLayoutId id="2147483654" r:id="rId10"/>
    <p:sldLayoutId id="2147483655" r:id="rId11"/>
    <p:sldLayoutId id="2147483656" r:id="rId12"/>
    <p:sldLayoutId id="2147483657" r:id="rId13"/>
    <p:sldLayoutId id="2147483658" r:id="rId14"/>
    <p:sldLayoutId id="2147483659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73" name="Google Shape;73;p14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5" name="Google Shape;75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6" name="Google Shape;76;p1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7" name="Google Shape;77;p14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 txBox="1"/>
          <p:nvPr/>
        </p:nvSpPr>
        <p:spPr>
          <a:xfrm>
            <a:off x="2274100" y="4761375"/>
            <a:ext cx="2311500" cy="25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9" name="Google Shape;79;p14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44834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and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140" name="Google Shape;140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143" name="Google Shape;143;p2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4" name="Google Shape;144;p27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7"/>
          <p:cNvSpPr txBox="1"/>
          <p:nvPr/>
        </p:nvSpPr>
        <p:spPr>
          <a:xfrm>
            <a:off x="2229287" y="4761375"/>
            <a:ext cx="52968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  <p:sldLayoutId id="2147483679" r:id="rId9"/>
    <p:sldLayoutId id="2147483680" r:id="rId10"/>
    <p:sldLayoutId id="2147483681" r:id="rId11"/>
    <p:sldLayoutId id="2147483682" r:id="rId12"/>
    <p:sldLayoutId id="2147483683" r:id="rId13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rgbClr val="FFFFFF"/>
        </a:solid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footer.png" id="201" name="Google Shape;201;p40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4CAF50"/>
              </a:buClr>
              <a:buSzPts val="3600"/>
              <a:buFont typeface="Roboto"/>
              <a:buNone/>
              <a:defRPr b="1" sz="3600">
                <a:solidFill>
                  <a:srgbClr val="4CAF50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3" name="Google Shape;203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  <a:defRPr sz="2400">
                <a:latin typeface="Roboto"/>
                <a:ea typeface="Roboto"/>
                <a:cs typeface="Roboto"/>
                <a:sym typeface="Roboto"/>
              </a:defRPr>
            </a:lvl1pPr>
            <a:lvl2pPr indent="-342900" lvl="1" marL="9144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Char char="○"/>
              <a:defRPr sz="1800"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●"/>
              <a:defRPr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Roboto"/>
              <a:buChar char="○"/>
              <a:defRPr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Roboto"/>
              <a:buChar char="■"/>
              <a:defRPr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204" name="Google Shape;204;p4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05" name="Google Shape;205;p40"/>
          <p:cNvSpPr txBox="1"/>
          <p:nvPr/>
        </p:nvSpPr>
        <p:spPr>
          <a:xfrm>
            <a:off x="9303675" y="2108450"/>
            <a:ext cx="5446200" cy="63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40"/>
          <p:cNvSpPr txBox="1"/>
          <p:nvPr/>
        </p:nvSpPr>
        <p:spPr>
          <a:xfrm>
            <a:off x="2206400" y="4761375"/>
            <a:ext cx="2294400" cy="2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Android Developer Fundamentals V2  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7" name="Google Shape;207;p40"/>
          <p:cNvSpPr txBox="1"/>
          <p:nvPr/>
        </p:nvSpPr>
        <p:spPr>
          <a:xfrm>
            <a:off x="5687075" y="4618725"/>
            <a:ext cx="2158500" cy="51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This work is licensed under a </a:t>
            </a:r>
            <a:r>
              <a:rPr i="1" lang="en" sz="900" u="sng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  <a:hlinkClick r:id="rId2"/>
              </a:rPr>
              <a:t>Creative Commons Attribution 4.0 International License</a:t>
            </a:r>
            <a:r>
              <a:rPr i="1" lang="en" sz="900">
                <a:solidFill>
                  <a:srgbClr val="666666"/>
                </a:solidFill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 i="1" sz="900">
              <a:solidFill>
                <a:srgbClr val="666666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08" name="Google Shape;208;p40"/>
          <p:cNvSpPr txBox="1"/>
          <p:nvPr/>
        </p:nvSpPr>
        <p:spPr>
          <a:xfrm>
            <a:off x="4407225" y="4663650"/>
            <a:ext cx="12876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" sz="1000">
                <a:solidFill>
                  <a:srgbClr val="757575"/>
                </a:solidFill>
                <a:latin typeface="Roboto"/>
                <a:ea typeface="Roboto"/>
                <a:cs typeface="Roboto"/>
                <a:sym typeface="Roboto"/>
              </a:rPr>
              <a:t>Activity Lifecycle &amp; Managing State</a:t>
            </a:r>
            <a:endParaRPr sz="1000">
              <a:solidFill>
                <a:srgbClr val="7575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09" name="Google Shape;209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53225" y="4788588"/>
            <a:ext cx="838200" cy="295275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84" r:id="rId4"/>
    <p:sldLayoutId id="2147483685" r:id="rId5"/>
    <p:sldLayoutId id="2147483686" r:id="rId6"/>
    <p:sldLayoutId id="2147483687" r:id="rId7"/>
    <p:sldLayoutId id="2147483688" r:id="rId8"/>
    <p:sldLayoutId id="2147483689" r:id="rId9"/>
    <p:sldLayoutId id="2147483690" r:id="rId10"/>
    <p:sldLayoutId id="2147483691" r:id="rId11"/>
    <p:sldLayoutId id="2147483692" r:id="rId12"/>
    <p:sldLayoutId id="2147483693" r:id="rId13"/>
    <p:sldLayoutId id="2147483694" r:id="rId14"/>
    <p:sldLayoutId id="2147483695" r:id="rId1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hyperlink" Target="https://developer.android.com/reference/android/app/Activity.html#isFinishing()" TargetMode="Externa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developer.android.com/reference/android/app/Activity.html#onRestoreInstanceState(android.os.Bundle)" TargetMode="Externa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0" Type="http://schemas.openxmlformats.org/officeDocument/2006/relationships/hyperlink" Target="https://developer.android.com/reference/android/os/Bundle.html" TargetMode="External"/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://developer.android.com/guide/components/activities.html" TargetMode="External"/><Relationship Id="rId4" Type="http://schemas.openxmlformats.org/officeDocument/2006/relationships/hyperlink" Target="http://developer.android.com/reference/android/app/Activity.html" TargetMode="External"/><Relationship Id="rId9" Type="http://schemas.openxmlformats.org/officeDocument/2006/relationships/hyperlink" Target="http://developer.android.com/guide/topics/resources/runtime-changes.html" TargetMode="External"/><Relationship Id="rId5" Type="http://schemas.openxmlformats.org/officeDocument/2006/relationships/hyperlink" Target="http://developer.android.com/training/basics/activity-lifecycle/index.html" TargetMode="External"/><Relationship Id="rId6" Type="http://schemas.openxmlformats.org/officeDocument/2006/relationships/hyperlink" Target="https://developer.android.com/training/basics/activity-lifecycle/pausing.html" TargetMode="External"/><Relationship Id="rId7" Type="http://schemas.openxmlformats.org/officeDocument/2006/relationships/hyperlink" Target="https://developer.android.com/training/basics/activity-lifecycle/stopping.html" TargetMode="External"/><Relationship Id="rId8" Type="http://schemas.openxmlformats.org/officeDocument/2006/relationships/hyperlink" Target="http://developer.android.com/training/basics/activity-lifecycle/recreating.html" TargetMode="Externa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google-developer-training.github.io/android-developer-fundamentals-course-concepts-v2/unit-1-get-started/lesson-2-activities-and-intents/2-2-c-activity-lifecycle-and-state/2-2-c-activity-lifecycle-and-state.html" TargetMode="External"/><Relationship Id="rId4" Type="http://schemas.openxmlformats.org/officeDocument/2006/relationships/hyperlink" Target="https://codelabs.developers.google.com/codelabs/android-training-activity-lifecycle-and-state" TargetMode="Externa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5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2" name="Google Shape;272;p53"/>
          <p:cNvSpPr txBox="1"/>
          <p:nvPr>
            <p:ph idx="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3" name="Google Shape;273;p53"/>
          <p:cNvSpPr txBox="1"/>
          <p:nvPr>
            <p:ph type="title"/>
          </p:nvPr>
        </p:nvSpPr>
        <p:spPr>
          <a:xfrm>
            <a:off x="195700" y="1442886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Activities and Intents</a:t>
            </a:r>
            <a:endParaRPr/>
          </a:p>
        </p:txBody>
      </p:sp>
      <p:sp>
        <p:nvSpPr>
          <p:cNvPr id="274" name="Google Shape;274;p53"/>
          <p:cNvSpPr txBox="1"/>
          <p:nvPr>
            <p:ph idx="3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5" name="Google Shape;275;p53"/>
          <p:cNvSpPr txBox="1"/>
          <p:nvPr>
            <p:ph idx="4" type="subTitle"/>
          </p:nvPr>
        </p:nvSpPr>
        <p:spPr>
          <a:xfrm>
            <a:off x="265500" y="564125"/>
            <a:ext cx="4045200" cy="52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Android Developer Fundamentals V2</a:t>
            </a:r>
            <a:endParaRPr/>
          </a:p>
        </p:txBody>
      </p:sp>
      <p:sp>
        <p:nvSpPr>
          <p:cNvPr id="276" name="Google Shape;276;p53"/>
          <p:cNvSpPr txBox="1"/>
          <p:nvPr/>
        </p:nvSpPr>
        <p:spPr>
          <a:xfrm>
            <a:off x="265500" y="3497911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rgbClr val="FAFAFA"/>
                </a:solidFill>
                <a:latin typeface="Roboto"/>
                <a:ea typeface="Roboto"/>
                <a:cs typeface="Roboto"/>
                <a:sym typeface="Roboto"/>
              </a:rPr>
              <a:t>Lesson 2</a:t>
            </a:r>
            <a:endParaRPr sz="2100">
              <a:solidFill>
                <a:srgbClr val="FAFAFA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54"/>
          <p:cNvSpPr txBox="1"/>
          <p:nvPr>
            <p:ph type="ctrTitle"/>
          </p:nvPr>
        </p:nvSpPr>
        <p:spPr>
          <a:xfrm>
            <a:off x="311708" y="1082993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2.2 Activity lifecycle </a:t>
            </a:r>
            <a:endParaRPr>
              <a:solidFill>
                <a:srgbClr val="FFFF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and state</a:t>
            </a:r>
            <a:endParaRPr/>
          </a:p>
        </p:txBody>
      </p:sp>
      <p:sp>
        <p:nvSpPr>
          <p:cNvPr id="282" name="Google Shape;282;p5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5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rgbClr val="FFFFFF"/>
                </a:solidFill>
              </a:rPr>
              <a:t>Contents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288" name="Google Shape;288;p55"/>
          <p:cNvSpPr txBox="1"/>
          <p:nvPr>
            <p:ph idx="1" type="body"/>
          </p:nvPr>
        </p:nvSpPr>
        <p:spPr>
          <a:xfrm>
            <a:off x="311700" y="1000075"/>
            <a:ext cx="8398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lifecycle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lifecycle callbacks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Activity instance state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Saving and restoring Activity state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</p:txBody>
      </p:sp>
      <p:sp>
        <p:nvSpPr>
          <p:cNvPr id="289" name="Google Shape;289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6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lifecycle</a:t>
            </a:r>
            <a:endParaRPr/>
          </a:p>
        </p:txBody>
      </p:sp>
      <p:sp>
        <p:nvSpPr>
          <p:cNvPr id="295" name="Google Shape;295;p5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7"/>
          <p:cNvSpPr txBox="1"/>
          <p:nvPr>
            <p:ph type="title"/>
          </p:nvPr>
        </p:nvSpPr>
        <p:spPr>
          <a:xfrm>
            <a:off x="319850" y="181300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Activity Lifecycle?</a:t>
            </a:r>
            <a:endParaRPr/>
          </a:p>
        </p:txBody>
      </p:sp>
      <p:sp>
        <p:nvSpPr>
          <p:cNvPr id="301" name="Google Shape;301;p57"/>
          <p:cNvSpPr txBox="1"/>
          <p:nvPr>
            <p:ph idx="12" type="sldNum"/>
          </p:nvPr>
        </p:nvSpPr>
        <p:spPr>
          <a:xfrm>
            <a:off x="84806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02" name="Google Shape;302;p57"/>
          <p:cNvSpPr txBox="1"/>
          <p:nvPr/>
        </p:nvSpPr>
        <p:spPr>
          <a:xfrm>
            <a:off x="319850" y="1086750"/>
            <a:ext cx="83037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The set of states an Activity can be in during its lifetime, from when it is created until it is destroyed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More formally: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 directed graph of all the states an Activity can be in, and the callbacks associated with transitioning from each state to the next one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8"/>
          <p:cNvSpPr txBox="1"/>
          <p:nvPr>
            <p:ph type="title"/>
          </p:nvPr>
        </p:nvSpPr>
        <p:spPr>
          <a:xfrm>
            <a:off x="319850" y="181300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the Activity Lifecycle?</a:t>
            </a:r>
            <a:endParaRPr/>
          </a:p>
        </p:txBody>
      </p:sp>
      <p:sp>
        <p:nvSpPr>
          <p:cNvPr id="308" name="Google Shape;308;p58"/>
          <p:cNvSpPr txBox="1"/>
          <p:nvPr>
            <p:ph idx="12" type="sldNum"/>
          </p:nvPr>
        </p:nvSpPr>
        <p:spPr>
          <a:xfrm>
            <a:off x="84806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descr="activity-stack.png" id="309" name="Google Shape;309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2748" y="1088800"/>
            <a:ext cx="6818499" cy="342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59"/>
          <p:cNvSpPr txBox="1"/>
          <p:nvPr>
            <p:ph type="title"/>
          </p:nvPr>
        </p:nvSpPr>
        <p:spPr>
          <a:xfrm>
            <a:off x="319850" y="181300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states and app visibility</a:t>
            </a:r>
            <a:endParaRPr/>
          </a:p>
        </p:txBody>
      </p:sp>
      <p:sp>
        <p:nvSpPr>
          <p:cNvPr id="315" name="Google Shape;315;p59"/>
          <p:cNvSpPr txBox="1"/>
          <p:nvPr>
            <p:ph idx="12" type="sldNum"/>
          </p:nvPr>
        </p:nvSpPr>
        <p:spPr>
          <a:xfrm>
            <a:off x="8480608" y="4749892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16" name="Google Shape;316;p59"/>
          <p:cNvSpPr txBox="1"/>
          <p:nvPr/>
        </p:nvSpPr>
        <p:spPr>
          <a:xfrm>
            <a:off x="319850" y="1086750"/>
            <a:ext cx="8520600" cy="34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Created (not visible yet)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Started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(visible)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Resume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(visible)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Paused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(partially invisible)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Stopped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(hidden)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Destroyed (gone from memory)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State changes are triggered by user action, configuration changes such as device rotation, or system action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60"/>
          <p:cNvSpPr txBox="1"/>
          <p:nvPr>
            <p:ph type="title"/>
          </p:nvPr>
        </p:nvSpPr>
        <p:spPr>
          <a:xfrm>
            <a:off x="265500" y="1233175"/>
            <a:ext cx="4045200" cy="24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lifecycle callbacks</a:t>
            </a:r>
            <a:endParaRPr/>
          </a:p>
        </p:txBody>
      </p:sp>
      <p:sp>
        <p:nvSpPr>
          <p:cNvPr id="322" name="Google Shape;322;p6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p6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Callbacks and when they are called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28" name="Google Shape;328;p6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29" name="Google Shape;329;p61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onCreate(Bundle savedInstanceState)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—static initialization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onStart()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when Activity (screen) is becoming visible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onRestart()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called if Activity was stopped (calls onStart())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    onResume()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start to interact with user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    onPause()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about to resume PREVIOUS Activity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    onStop()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—n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o longer visible, but still exists and all state info preserved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 onDestroy()</a:t>
            </a:r>
            <a:r>
              <a:rPr lang="en" sz="18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—</a:t>
            </a:r>
            <a:r>
              <a:rPr lang="en" sz="1800">
                <a:latin typeface="Roboto"/>
                <a:ea typeface="Roboto"/>
                <a:cs typeface="Roboto"/>
                <a:sym typeface="Roboto"/>
              </a:rPr>
              <a:t>final call before Android system destroys Activity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4CAF50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cxnSp>
        <p:nvCxnSpPr>
          <p:cNvPr id="330" name="Google Shape;330;p61"/>
          <p:cNvCxnSpPr/>
          <p:nvPr/>
        </p:nvCxnSpPr>
        <p:spPr>
          <a:xfrm>
            <a:off x="1113900" y="1670850"/>
            <a:ext cx="0" cy="656700"/>
          </a:xfrm>
          <a:prstGeom prst="straightConnector1">
            <a:avLst/>
          </a:prstGeom>
          <a:noFill/>
          <a:ln cap="flat" cmpd="sng" w="762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1" name="Google Shape;331;p61"/>
          <p:cNvCxnSpPr/>
          <p:nvPr/>
        </p:nvCxnSpPr>
        <p:spPr>
          <a:xfrm>
            <a:off x="1706875" y="2563100"/>
            <a:ext cx="0" cy="656700"/>
          </a:xfrm>
          <a:prstGeom prst="straightConnector1">
            <a:avLst/>
          </a:prstGeom>
          <a:noFill/>
          <a:ln cap="flat" cmpd="sng" w="76200">
            <a:solidFill>
              <a:srgbClr val="CCCCCC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2" name="Google Shape;332;p61"/>
          <p:cNvCxnSpPr/>
          <p:nvPr/>
        </p:nvCxnSpPr>
        <p:spPr>
          <a:xfrm>
            <a:off x="1113900" y="3399900"/>
            <a:ext cx="0" cy="313200"/>
          </a:xfrm>
          <a:prstGeom prst="straightConnector1">
            <a:avLst/>
          </a:prstGeom>
          <a:noFill/>
          <a:ln cap="flat" cmpd="sng" w="76200">
            <a:solidFill>
              <a:srgbClr val="999999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3" name="Google Shape;333;p61"/>
          <p:cNvCxnSpPr/>
          <p:nvPr/>
        </p:nvCxnSpPr>
        <p:spPr>
          <a:xfrm>
            <a:off x="692725" y="3826625"/>
            <a:ext cx="0" cy="313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34" name="Google Shape;334;p61"/>
          <p:cNvCxnSpPr/>
          <p:nvPr/>
        </p:nvCxnSpPr>
        <p:spPr>
          <a:xfrm>
            <a:off x="692725" y="1227525"/>
            <a:ext cx="0" cy="313200"/>
          </a:xfrm>
          <a:prstGeom prst="straightConnector1">
            <a:avLst/>
          </a:prstGeom>
          <a:noFill/>
          <a:ln cap="flat" cmpd="sng" w="762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6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 states and callbacks graph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0" name="Google Shape;340;p6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341" name="Google Shape;341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5550" y="960650"/>
            <a:ext cx="8150000" cy="364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p63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and overriding callbacks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47" name="Google Shape;347;p6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48" name="Google Shape;348;p63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onCreate()</a:t>
            </a:r>
            <a:r>
              <a:rPr lang="en"/>
              <a:t> is required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Override the other callbacks to change default behavior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64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Called when the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/>
              <a:t> is first created, for example when user taps launcher icon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Does all static setup: create views, bind data to lists, ...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Only called once during an activity's lifetime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Takes a Bundle with Activity's previously frozen state, if there was one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Created state is always followed by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onStart()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354" name="Google Shape;354;p64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onCreate() –&gt; Created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55" name="Google Shape;355;p6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6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onCreate(Bundle savedInstanceState)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1" name="Google Shape;361;p6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65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public void onCreate(Bundle savedInstanceState)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super.onCreate(savedInstanceState);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being created.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6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onStart() –&gt; Started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68" name="Google Shape;368;p6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9" name="Google Shape;369;p66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when the Activity is becoming visible to user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Can be called more than once during lifecycle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Followed by o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nResume()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the activity comes to the foreground, or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it becomes hidden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6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onStart()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75" name="Google Shape;375;p6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76" name="Google Shape;376;p67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onStart()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super.onStart();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about to become visible.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68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onRestart() –&gt; Started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2" name="Google Shape;382;p6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3" name="Google Shape;383;p68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after Activity has been stopped, immediately before it is started again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Transient state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Always followed by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onStart()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7" name="Shape 3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8" name="Google Shape;388;p6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onRestart()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89" name="Google Shape;389;p6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0" name="Google Shape;390;p69"/>
          <p:cNvSpPr txBox="1"/>
          <p:nvPr/>
        </p:nvSpPr>
        <p:spPr>
          <a:xfrm>
            <a:off x="181075" y="1109475"/>
            <a:ext cx="884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onRestart()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super.onRestart();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between stopped and started.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p70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onResume() –&gt; Resumed/Running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396" name="Google Shape;396;p7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97" name="Google Shape;397;p70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Called when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Activity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will start interacting with user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Activity has moved to top of the Activity stack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Starts accepting user input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Running state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Always followed by 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7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onResume()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03" name="Google Shape;403;p7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4" name="Google Shape;404;p71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onResume()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super.onResume();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has become visible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it is now "resumed"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72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onPause() –&gt; Paused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0" name="Google Shape;410;p7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1" name="Google Shape;411;p72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Called when system is about to resume a previous Activity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The Activity is partly visible but user is leaving the Activity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Typically used to commit unsaved changes to persistent data, stop animations and anything that consumes resources 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Implementations must be fast because the next Activity is not resumed until this method returns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55600" lvl="0" marL="457200" rtl="0" algn="l">
              <a:spcBef>
                <a:spcPts val="1000"/>
              </a:spcBef>
              <a:spcAft>
                <a:spcPts val="1000"/>
              </a:spcAft>
              <a:buSzPts val="2000"/>
              <a:buFont typeface="Roboto"/>
              <a:buChar char="●"/>
            </a:pP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Followed by either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onResume()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the Activity returns back to the front, or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en" sz="2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if it becomes invisible to the user</a:t>
            </a:r>
            <a:endParaRPr sz="2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7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onPause()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17" name="Google Shape;417;p7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18" name="Google Shape;418;p73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onPause()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super.onPause();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Another activity is taking focus 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this activity is about to be "paused"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2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7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onStop() –&gt; Stopped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24" name="Google Shape;424;p7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5" name="Google Shape;425;p74"/>
          <p:cNvSpPr txBox="1"/>
          <p:nvPr/>
        </p:nvSpPr>
        <p:spPr>
          <a:xfrm>
            <a:off x="181075" y="1070950"/>
            <a:ext cx="8520600" cy="33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marR="13970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when the Activity is no longer visible to the user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New Activity is being started, an existing one is brought in front of this one, or this one is being destroyed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marR="1397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Operations that were too heavy-weight for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onPause()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Followed by either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onRestart()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Activity is coming back to interact with user, or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onDestroy()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if Activity is going away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7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onStop()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1" name="Google Shape;431;p7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2" name="Google Shape;432;p75"/>
          <p:cNvSpPr txBox="1"/>
          <p:nvPr/>
        </p:nvSpPr>
        <p:spPr>
          <a:xfrm>
            <a:off x="181075" y="1109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onStop()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super.onStop();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no longer visible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it is now "stopped"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76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onDestroy() –&gt; Destroyed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38" name="Google Shape;438;p7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9" name="Google Shape;439;p76"/>
          <p:cNvSpPr txBox="1"/>
          <p:nvPr/>
        </p:nvSpPr>
        <p:spPr>
          <a:xfrm>
            <a:off x="181075" y="1033275"/>
            <a:ext cx="88401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Final call before Activity is destroyed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User navigates back to previous Activity, or configuration changes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Activity is finishing or system is destroying it to save space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Call </a:t>
            </a:r>
            <a:r>
              <a:rPr lang="en" sz="2400">
                <a:uFill>
                  <a:noFill/>
                </a:uFill>
                <a:latin typeface="Consolas"/>
                <a:ea typeface="Consolas"/>
                <a:cs typeface="Consolas"/>
                <a:sym typeface="Consolas"/>
                <a:hlinkClick r:id="rId3"/>
              </a:rPr>
              <a:t>isFinishing()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method to check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System may destroy Activity without calling this, so use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onPause()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or </a:t>
            </a: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onStop()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 to save data or state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43" name="Shape 4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4" name="Google Shape;444;p77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onDestroy()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45" name="Google Shape;445;p7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6" name="Google Shape;446;p77"/>
          <p:cNvSpPr txBox="1"/>
          <p:nvPr/>
        </p:nvSpPr>
        <p:spPr>
          <a:xfrm>
            <a:off x="197700" y="108455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protected void onDestroy() {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super.onDestroy();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    // The activity is about to be destroyed.</a:t>
            </a:r>
            <a:endParaRPr sz="2400">
              <a:solidFill>
                <a:schemeClr val="dk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4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p7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Activity instance state</a:t>
            </a:r>
            <a:endParaRPr/>
          </a:p>
        </p:txBody>
      </p:sp>
      <p:sp>
        <p:nvSpPr>
          <p:cNvPr id="452" name="Google Shape;452;p7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79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When does config change?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8" name="Google Shape;458;p7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59" name="Google Shape;459;p79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Configuration changes invalidate the current layout or other resources in your activity when the user: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Rotates the device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Chooses different system language, so locale changes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Enters multi-window mode (from Android 7)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8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happens on config change?</a:t>
            </a:r>
            <a:endParaRPr/>
          </a:p>
        </p:txBody>
      </p:sp>
      <p:sp>
        <p:nvSpPr>
          <p:cNvPr id="465" name="Google Shape;465;p80"/>
          <p:cNvSpPr txBox="1"/>
          <p:nvPr>
            <p:ph idx="1" type="body"/>
          </p:nvPr>
        </p:nvSpPr>
        <p:spPr>
          <a:xfrm>
            <a:off x="311700" y="1076275"/>
            <a:ext cx="8410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lang="en"/>
              <a:t>On configuration change,  Android:</a:t>
            </a:r>
            <a:endParaRPr/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en"/>
              <a:t>1.</a:t>
            </a:r>
            <a:r>
              <a:rPr lang="en"/>
              <a:t> Shuts down Activity </a:t>
            </a:r>
            <a:br>
              <a:rPr lang="en"/>
            </a:br>
            <a:r>
              <a:rPr lang="en"/>
              <a:t>    by calling:</a:t>
            </a:r>
            <a:endParaRPr/>
          </a:p>
        </p:txBody>
      </p:sp>
      <p:sp>
        <p:nvSpPr>
          <p:cNvPr id="466" name="Google Shape;466;p8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67" name="Google Shape;467;p80"/>
          <p:cNvSpPr txBox="1"/>
          <p:nvPr/>
        </p:nvSpPr>
        <p:spPr>
          <a:xfrm>
            <a:off x="5043400" y="1740850"/>
            <a:ext cx="4071300" cy="623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2. 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S</a:t>
            </a: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tarts Activity over again </a:t>
            </a:r>
            <a:b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     by calling:</a:t>
            </a:r>
            <a:endParaRPr/>
          </a:p>
        </p:txBody>
      </p:sp>
      <p:sp>
        <p:nvSpPr>
          <p:cNvPr id="468" name="Google Shape;468;p80"/>
          <p:cNvSpPr txBox="1"/>
          <p:nvPr/>
        </p:nvSpPr>
        <p:spPr>
          <a:xfrm>
            <a:off x="766050" y="2626450"/>
            <a:ext cx="3064200" cy="166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onPause()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onStop()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onDestroy()</a:t>
            </a:r>
            <a:endParaRPr/>
          </a:p>
        </p:txBody>
      </p:sp>
      <p:sp>
        <p:nvSpPr>
          <p:cNvPr id="469" name="Google Shape;469;p80"/>
          <p:cNvSpPr txBox="1"/>
          <p:nvPr/>
        </p:nvSpPr>
        <p:spPr>
          <a:xfrm>
            <a:off x="5471900" y="2626450"/>
            <a:ext cx="2517000" cy="1499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onCreate()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onStart()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rgbClr val="424242"/>
                </a:solidFill>
                <a:latin typeface="Roboto"/>
                <a:ea typeface="Roboto"/>
                <a:cs typeface="Roboto"/>
                <a:sym typeface="Roboto"/>
              </a:rPr>
              <a:t>onResume()</a:t>
            </a:r>
            <a:endParaRPr sz="2400">
              <a:solidFill>
                <a:srgbClr val="42424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81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Activity instance state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8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76" name="Google Shape;476;p81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State information is created while the Activity is running, such as a counter, user text, animation progression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State is lost when device is rotated, language changes, back-button is pressed, or the system clears memory 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82"/>
          <p:cNvSpPr txBox="1"/>
          <p:nvPr>
            <p:ph type="title"/>
          </p:nvPr>
        </p:nvSpPr>
        <p:spPr>
          <a:xfrm>
            <a:off x="265500" y="1233175"/>
            <a:ext cx="4045200" cy="222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Saving and restoring Activity state</a:t>
            </a:r>
            <a:endParaRPr/>
          </a:p>
        </p:txBody>
      </p:sp>
      <p:sp>
        <p:nvSpPr>
          <p:cNvPr id="482" name="Google Shape;482;p8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83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the system saves</a:t>
            </a:r>
            <a:endParaRPr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8" name="Google Shape;488;p83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83"/>
          <p:cNvSpPr txBox="1"/>
          <p:nvPr/>
        </p:nvSpPr>
        <p:spPr>
          <a:xfrm>
            <a:off x="311700" y="771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System saves </a:t>
            </a:r>
            <a:r>
              <a:rPr lang="en" sz="24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only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: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State of views with unique ID (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android:id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) such as text entered into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EditText</a:t>
            </a:r>
            <a:endParaRPr sz="2400">
              <a:latin typeface="Consolas"/>
              <a:ea typeface="Consolas"/>
              <a:cs typeface="Consolas"/>
              <a:sym typeface="Consolas"/>
            </a:endParaRPr>
          </a:p>
          <a:p>
            <a:pPr indent="-3810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○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Intent that started activity and data in its extras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You are responsible for saving other activity and user progress data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84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Saving instance state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495" name="Google Shape;495;p8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6" name="Google Shape;496;p84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Implement </a:t>
            </a:r>
            <a:r>
              <a:rPr lang="en" sz="2400">
                <a:latin typeface="Consolas"/>
                <a:ea typeface="Consolas"/>
                <a:cs typeface="Consolas"/>
                <a:sym typeface="Consolas"/>
              </a:rPr>
              <a:t>onSaveInstanceState()</a:t>
            </a:r>
            <a:r>
              <a:rPr lang="en" sz="2400">
                <a:latin typeface="Roboto"/>
                <a:ea typeface="Roboto"/>
                <a:cs typeface="Roboto"/>
                <a:sym typeface="Roboto"/>
              </a:rPr>
              <a:t> in your Activity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Called by Android runtime when there is a possibility the Activity may be destroyed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-381000" lvl="0" marL="45720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424242"/>
              </a:buClr>
              <a:buSzPts val="2400"/>
              <a:buFont typeface="Roboto"/>
              <a:buChar char="●"/>
            </a:pPr>
            <a:r>
              <a:rPr lang="en" sz="2400">
                <a:latin typeface="Roboto"/>
                <a:ea typeface="Roboto"/>
                <a:cs typeface="Roboto"/>
                <a:sym typeface="Roboto"/>
              </a:rPr>
              <a:t>Saves data only for this instance of the Activity during current session</a:t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85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onSaveInstanceState(Bundle outState)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2" name="Google Shape;502;p8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03" name="Google Shape;503;p85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public void onSaveInstanceState(Bundle outState) {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super.onSaveInstanceState(outState);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// Add information for saving HelloToast counter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// to the to the outState bundle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outState.putString("count", 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                String.valueOf(mShowCount.getText()));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22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86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Restoring instance state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09" name="Google Shape;509;p86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0" name="Google Shape;510;p86"/>
          <p:cNvSpPr txBox="1"/>
          <p:nvPr>
            <p:ph idx="1" type="body"/>
          </p:nvPr>
        </p:nvSpPr>
        <p:spPr>
          <a:xfrm>
            <a:off x="311700" y="10762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Two ways to retrieve the saved Bundle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in </a:t>
            </a:r>
            <a:r>
              <a:rPr lang="en">
                <a:latin typeface="Consolas"/>
                <a:ea typeface="Consolas"/>
                <a:cs typeface="Consolas"/>
                <a:sym typeface="Consolas"/>
              </a:rPr>
              <a:t>onCreate(Bundle mySavedState)</a:t>
            </a:r>
            <a:br>
              <a:rPr lang="en"/>
            </a:br>
            <a:r>
              <a:rPr lang="en"/>
              <a:t>Preferred, to ensure that your user interface, including any saved state, is back up and running as quickly as possible </a:t>
            </a:r>
            <a:endParaRPr/>
          </a:p>
          <a:p>
            <a:pPr indent="-381000" lvl="0" marL="457200" rtl="0" algn="l">
              <a:spcBef>
                <a:spcPts val="1000"/>
              </a:spcBef>
              <a:spcAft>
                <a:spcPts val="0"/>
              </a:spcAft>
              <a:buSzPts val="2400"/>
              <a:buChar char="●"/>
            </a:pPr>
            <a:r>
              <a:rPr lang="en"/>
              <a:t>Implement callback (called after onStart())</a:t>
            </a:r>
            <a:br>
              <a:rPr lang="en"/>
            </a:br>
            <a:r>
              <a:rPr lang="en" u="sng">
                <a:solidFill>
                  <a:schemeClr val="hlink"/>
                </a:solidFill>
                <a:latin typeface="Consolas"/>
                <a:ea typeface="Consolas"/>
                <a:cs typeface="Consolas"/>
                <a:sym typeface="Consolas"/>
                <a:hlinkClick r:id="rId3"/>
              </a:rPr>
              <a:t>onRestoreInstanceState(Bundle mySavedState)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p87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6" name="Google Shape;516;p87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Restoring in onCreate()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17" name="Google Shape;517;p87"/>
          <p:cNvSpPr txBox="1"/>
          <p:nvPr/>
        </p:nvSpPr>
        <p:spPr>
          <a:xfrm>
            <a:off x="97975" y="1071750"/>
            <a:ext cx="8833800" cy="3579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protected void onCreate(Bundle savedInstanceState)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super.onCreate(savedInstanceState);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setContentView(R.layout.activity_main);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mShowCount = findViewById(R.id.show_count);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" sz="2000">
                <a:latin typeface="Consolas"/>
                <a:ea typeface="Consolas"/>
                <a:cs typeface="Consolas"/>
                <a:sym typeface="Consolas"/>
              </a:rPr>
              <a:t>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if (savedInstanceState != null) {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String count = savedInstanceState.getString("count");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if (mShowCount != null)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    mShowCount.setText(count);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8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88"/>
          <p:cNvSpPr txBox="1"/>
          <p:nvPr/>
        </p:nvSpPr>
        <p:spPr>
          <a:xfrm>
            <a:off x="53200" y="1076275"/>
            <a:ext cx="91440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@Override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public void onRestoreInstanceState (Bundle mySavedState) {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   super.onRestoreInstanceState(mySavedState);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latin typeface="Consolas"/>
                <a:ea typeface="Consolas"/>
                <a:cs typeface="Consolas"/>
                <a:sym typeface="Consolas"/>
              </a:rPr>
              <a:t>   </a:t>
            </a: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if (mySavedState != null) {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String count = mySavedState.getString("count");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if (count != null)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        mShowCount.setText(count);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latin typeface="Consolas"/>
                <a:ea typeface="Consolas"/>
                <a:cs typeface="Consolas"/>
                <a:sym typeface="Consolas"/>
              </a:rPr>
              <a:t>   }</a:t>
            </a:r>
            <a:endParaRPr b="1" sz="20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>
                <a:latin typeface="Consolas"/>
                <a:ea typeface="Consolas"/>
                <a:cs typeface="Consolas"/>
                <a:sym typeface="Consolas"/>
              </a:rPr>
              <a:t>}</a:t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524" name="Google Shape;524;p88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onRestoreInstanceState(Bundle state)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28" name="Shape 5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89"/>
          <p:cNvSpPr txBox="1"/>
          <p:nvPr>
            <p:ph type="title"/>
          </p:nvPr>
        </p:nvSpPr>
        <p:spPr>
          <a:xfrm>
            <a:off x="311700" y="170825"/>
            <a:ext cx="86577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Instance state and app restart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530" name="Google Shape;530;p89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1" name="Google Shape;531;p89"/>
          <p:cNvSpPr txBox="1"/>
          <p:nvPr/>
        </p:nvSpPr>
        <p:spPr>
          <a:xfrm>
            <a:off x="311700" y="10762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When you stop and restart a new app session, the Activity instance states are lost and your activities will revert to their default appearance</a:t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500"/>
              </a:spcBef>
              <a:spcAft>
                <a:spcPts val="20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If you need to save user data between app sessions, use shared preferences or a database.</a:t>
            </a:r>
            <a:endParaRPr sz="1600">
              <a:solidFill>
                <a:srgbClr val="4CAF5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5" name="Shape 5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Google Shape;536;p90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Learn more</a:t>
            </a:r>
            <a:endParaRPr/>
          </a:p>
        </p:txBody>
      </p:sp>
      <p:sp>
        <p:nvSpPr>
          <p:cNvPr id="537" name="Google Shape;537;p90"/>
          <p:cNvSpPr txBox="1"/>
          <p:nvPr>
            <p:ph idx="1" type="body"/>
          </p:nvPr>
        </p:nvSpPr>
        <p:spPr>
          <a:xfrm>
            <a:off x="235500" y="1096275"/>
            <a:ext cx="8696400" cy="3504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Activities</a:t>
            </a:r>
            <a:r>
              <a:rPr lang="en"/>
              <a:t> (API Guide)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Activity</a:t>
            </a:r>
            <a:r>
              <a:rPr lang="en"/>
              <a:t> (API Reference)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Managing the Activity Lifecycle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6"/>
              </a:rPr>
              <a:t>Pausing and Resuming an Activity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7"/>
              </a:rPr>
              <a:t>Stopping and Restarting an Activity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8"/>
              </a:rPr>
              <a:t>Recreating an Activity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9"/>
              </a:rPr>
              <a:t>Handling Runtime Changes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u="sng">
                <a:solidFill>
                  <a:schemeClr val="hlink"/>
                </a:solidFill>
                <a:hlinkClick r:id="rId10"/>
              </a:rPr>
              <a:t>Bundle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9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91"/>
          <p:cNvSpPr txBox="1"/>
          <p:nvPr>
            <p:ph type="title"/>
          </p:nvPr>
        </p:nvSpPr>
        <p:spPr>
          <a:xfrm>
            <a:off x="311700" y="17082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/>
              <a:t>What's Next?</a:t>
            </a:r>
            <a:endParaRPr/>
          </a:p>
        </p:txBody>
      </p:sp>
      <p:sp>
        <p:nvSpPr>
          <p:cNvPr id="544" name="Google Shape;544;p9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45" name="Google Shape;545;p91"/>
          <p:cNvSpPr txBox="1"/>
          <p:nvPr/>
        </p:nvSpPr>
        <p:spPr>
          <a:xfrm>
            <a:off x="187650" y="1835125"/>
            <a:ext cx="8833500" cy="1879500"/>
          </a:xfrm>
          <a:prstGeom prst="rect">
            <a:avLst/>
          </a:prstGeom>
          <a:noFill/>
          <a:ln cap="flat" cmpd="sng" w="38100">
            <a:solidFill>
              <a:srgbClr val="4CAF5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Concept Chapter: </a:t>
            </a:r>
            <a:r>
              <a:rPr lang="en" sz="3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2.2 Activity lifecycle and state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Roboto"/>
              <a:buChar char="●"/>
            </a:pPr>
            <a:r>
              <a:rPr lang="en" sz="3000">
                <a:latin typeface="Roboto"/>
                <a:ea typeface="Roboto"/>
                <a:cs typeface="Roboto"/>
                <a:sym typeface="Roboto"/>
              </a:rPr>
              <a:t>Practical: </a:t>
            </a:r>
            <a:r>
              <a:rPr lang="en" sz="30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2.2 Activity lifecycle and state</a:t>
            </a:r>
            <a:endParaRPr sz="3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p92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END</a:t>
            </a:r>
            <a:endParaRPr/>
          </a:p>
        </p:txBody>
      </p:sp>
      <p:sp>
        <p:nvSpPr>
          <p:cNvPr id="551" name="Google Shape;551;p92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92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3" name="Google Shape;553;p92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GDT master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